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65" r:id="rId2"/>
    <p:sldId id="264" r:id="rId3"/>
    <p:sldId id="256" r:id="rId4"/>
    <p:sldId id="257" r:id="rId5"/>
    <p:sldId id="259" r:id="rId6"/>
    <p:sldId id="260" r:id="rId7"/>
    <p:sldId id="263" r:id="rId8"/>
    <p:sldId id="261"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800"/>
    <a:srgbClr val="FDF3ED"/>
    <a:srgbClr val="502424"/>
    <a:srgbClr val="6D07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Sheet1!$E$6</c:f>
              <c:strCache>
                <c:ptCount val="1"/>
                <c:pt idx="0">
                  <c:v>Street lighting</c:v>
                </c:pt>
              </c:strCache>
            </c:strRef>
          </c:tx>
          <c:spPr>
            <a:ln w="28575" cap="rnd">
              <a:solidFill>
                <a:srgbClr val="FF8800"/>
              </a:solidFill>
              <a:round/>
            </a:ln>
            <a:effectLst/>
          </c:spPr>
          <c:marker>
            <c:symbol val="circle"/>
            <c:size val="5"/>
            <c:spPr>
              <a:solidFill>
                <a:srgbClr val="FF8800"/>
              </a:solidFill>
              <a:ln w="9525">
                <a:noFill/>
              </a:ln>
              <a:effectLst/>
            </c:spPr>
          </c:marker>
          <c:dPt>
            <c:idx val="8"/>
            <c:marker>
              <c:symbol val="circle"/>
              <c:size val="5"/>
              <c:spPr>
                <a:solidFill>
                  <a:srgbClr val="FF8800"/>
                </a:solidFill>
                <a:ln w="9525">
                  <a:noFill/>
                </a:ln>
                <a:effectLst/>
              </c:spPr>
            </c:marker>
            <c:bubble3D val="0"/>
            <c:spPr>
              <a:ln w="28575" cap="rnd">
                <a:solidFill>
                  <a:srgbClr val="FF8800"/>
                </a:solidFill>
                <a:round/>
              </a:ln>
              <a:effectLst/>
            </c:spPr>
            <c:extLst>
              <c:ext xmlns:c16="http://schemas.microsoft.com/office/drawing/2014/chart" uri="{C3380CC4-5D6E-409C-BE32-E72D297353CC}">
                <c16:uniqueId val="{00000001-6851-4F80-B810-0FD795173D64}"/>
              </c:ext>
            </c:extLst>
          </c:dPt>
          <c:dLbls>
            <c:dLbl>
              <c:idx val="3"/>
              <c:layout>
                <c:manualLayout>
                  <c:x val="9.8566580486567461E-3"/>
                  <c:y val="-2.65485017829427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851-4F80-B810-0FD795173D64}"/>
                </c:ext>
              </c:extLst>
            </c:dLbl>
            <c:dLbl>
              <c:idx val="8"/>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851-4F80-B810-0FD795173D64}"/>
                </c:ext>
              </c:extLst>
            </c:dLbl>
            <c:dLbl>
              <c:idx val="9"/>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851-4F80-B810-0FD795173D64}"/>
                </c:ext>
              </c:extLst>
            </c:dLbl>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851-4F80-B810-0FD795173D64}"/>
                </c:ext>
              </c:extLst>
            </c:dLbl>
            <c:numFmt formatCode="#,##0.00" sourceLinked="0"/>
            <c:spPr>
              <a:solidFill>
                <a:schemeClr val="tx1">
                  <a:lumMod val="50000"/>
                  <a:lumOff val="50000"/>
                  <a:alpha val="8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Sheet1!$E$7:$E$18</c:f>
              <c:numCache>
                <c:formatCode>General</c:formatCode>
                <c:ptCount val="12"/>
                <c:pt idx="0">
                  <c:v>34</c:v>
                </c:pt>
                <c:pt idx="1">
                  <c:v>36.75</c:v>
                </c:pt>
                <c:pt idx="2">
                  <c:v>39.5</c:v>
                </c:pt>
                <c:pt idx="3">
                  <c:v>20.75</c:v>
                </c:pt>
                <c:pt idx="4">
                  <c:v>29.5</c:v>
                </c:pt>
                <c:pt idx="5">
                  <c:v>34</c:v>
                </c:pt>
                <c:pt idx="6">
                  <c:v>34.5</c:v>
                </c:pt>
                <c:pt idx="7">
                  <c:v>31.67</c:v>
                </c:pt>
                <c:pt idx="8">
                  <c:v>46</c:v>
                </c:pt>
                <c:pt idx="9">
                  <c:v>40.67</c:v>
                </c:pt>
                <c:pt idx="10">
                  <c:v>41.33</c:v>
                </c:pt>
                <c:pt idx="11">
                  <c:v>34.33</c:v>
                </c:pt>
              </c:numCache>
            </c:numRef>
          </c:val>
          <c:smooth val="0"/>
          <c:extLst>
            <c:ext xmlns:c16="http://schemas.microsoft.com/office/drawing/2014/chart" uri="{C3380CC4-5D6E-409C-BE32-E72D297353CC}">
              <c16:uniqueId val="{00000005-6851-4F80-B810-0FD795173D64}"/>
            </c:ext>
          </c:extLst>
        </c:ser>
        <c:ser>
          <c:idx val="1"/>
          <c:order val="1"/>
          <c:tx>
            <c:strRef>
              <c:f>Sheet1!$F$6</c:f>
              <c:strCache>
                <c:ptCount val="1"/>
                <c:pt idx="0">
                  <c:v>Water Supply and Services</c:v>
                </c:pt>
              </c:strCache>
            </c:strRef>
          </c:tx>
          <c:spPr>
            <a:ln w="28575" cap="rnd">
              <a:solidFill>
                <a:schemeClr val="bg2">
                  <a:lumMod val="50000"/>
                </a:schemeClr>
              </a:solidFill>
              <a:round/>
            </a:ln>
            <a:effectLst/>
          </c:spPr>
          <c:marker>
            <c:symbol val="circle"/>
            <c:size val="5"/>
            <c:spPr>
              <a:solidFill>
                <a:schemeClr val="bg2">
                  <a:lumMod val="50000"/>
                </a:schemeClr>
              </a:solidFill>
              <a:ln w="9525">
                <a:noFill/>
              </a:ln>
              <a:effectLst/>
            </c:spPr>
          </c:marker>
          <c:dLbls>
            <c:dLbl>
              <c:idx val="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851-4F80-B810-0FD795173D64}"/>
                </c:ext>
              </c:extLst>
            </c:dLbl>
            <c:dLbl>
              <c:idx val="2"/>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851-4F80-B810-0FD795173D64}"/>
                </c:ext>
              </c:extLst>
            </c:dLbl>
            <c:spPr>
              <a:solidFill>
                <a:schemeClr val="tx1">
                  <a:lumMod val="50000"/>
                  <a:lumOff val="50000"/>
                  <a:alpha val="8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Sheet1!$D$7:$D$18</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Sheet1!$F$7:$F$18</c:f>
              <c:numCache>
                <c:formatCode>General</c:formatCode>
                <c:ptCount val="12"/>
                <c:pt idx="0">
                  <c:v>7.75</c:v>
                </c:pt>
                <c:pt idx="1">
                  <c:v>11</c:v>
                </c:pt>
                <c:pt idx="2">
                  <c:v>16.75</c:v>
                </c:pt>
                <c:pt idx="3">
                  <c:v>6.25</c:v>
                </c:pt>
                <c:pt idx="4">
                  <c:v>5.33</c:v>
                </c:pt>
                <c:pt idx="5">
                  <c:v>5.5</c:v>
                </c:pt>
                <c:pt idx="6">
                  <c:v>6.75</c:v>
                </c:pt>
                <c:pt idx="7">
                  <c:v>9</c:v>
                </c:pt>
                <c:pt idx="8">
                  <c:v>8</c:v>
                </c:pt>
                <c:pt idx="9">
                  <c:v>4</c:v>
                </c:pt>
                <c:pt idx="10">
                  <c:v>5</c:v>
                </c:pt>
                <c:pt idx="11">
                  <c:v>3.33</c:v>
                </c:pt>
              </c:numCache>
            </c:numRef>
          </c:val>
          <c:smooth val="0"/>
          <c:extLst>
            <c:ext xmlns:c16="http://schemas.microsoft.com/office/drawing/2014/chart" uri="{C3380CC4-5D6E-409C-BE32-E72D297353CC}">
              <c16:uniqueId val="{00000008-6851-4F80-B810-0FD795173D64}"/>
            </c:ext>
          </c:extLst>
        </c:ser>
        <c:dLbls>
          <c:dLblPos val="t"/>
          <c:showLegendKey val="0"/>
          <c:showVal val="1"/>
          <c:showCatName val="0"/>
          <c:showSerName val="0"/>
          <c:showPercent val="0"/>
          <c:showBubbleSize val="0"/>
        </c:dLbls>
        <c:marker val="1"/>
        <c:smooth val="0"/>
        <c:axId val="1332730384"/>
        <c:axId val="1332730864"/>
      </c:lineChart>
      <c:dateAx>
        <c:axId val="1332730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alpha val="55000"/>
                  </a:schemeClr>
                </a:solidFill>
                <a:latin typeface="+mn-lt"/>
                <a:ea typeface="+mn-ea"/>
                <a:cs typeface="+mn-cs"/>
              </a:defRPr>
            </a:pPr>
            <a:endParaRPr lang="en-US"/>
          </a:p>
        </c:txPr>
        <c:crossAx val="1332730864"/>
        <c:crosses val="autoZero"/>
        <c:auto val="0"/>
        <c:lblOffset val="100"/>
        <c:baseTimeUnit val="days"/>
      </c:dateAx>
      <c:valAx>
        <c:axId val="1332730864"/>
        <c:scaling>
          <c:orientation val="minMax"/>
        </c:scaling>
        <c:delete val="0"/>
        <c:axPos val="l"/>
        <c:majorGridlines>
          <c:spPr>
            <a:ln w="9525" cap="flat" cmpd="sng" algn="ctr">
              <a:solidFill>
                <a:schemeClr val="tx1">
                  <a:lumMod val="50000"/>
                  <a:lumOff val="50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alpha val="44000"/>
                  </a:schemeClr>
                </a:solidFill>
                <a:latin typeface="+mn-lt"/>
                <a:ea typeface="+mn-ea"/>
                <a:cs typeface="+mn-cs"/>
              </a:defRPr>
            </a:pPr>
            <a:endParaRPr lang="en-US"/>
          </a:p>
        </c:txPr>
        <c:crossAx val="1332730384"/>
        <c:crosses val="autoZero"/>
        <c:crossBetween val="between"/>
        <c:majorUnit val="10"/>
      </c:valAx>
      <c:spPr>
        <a:noFill/>
        <a:ln>
          <a:noFill/>
        </a:ln>
        <a:effectLst/>
      </c:spPr>
    </c:plotArea>
    <c:legend>
      <c:legendPos val="t"/>
      <c:overlay val="0"/>
      <c:spPr>
        <a:noFill/>
        <a:ln w="0" cap="rnd">
          <a:noFill/>
          <a:round/>
        </a:ln>
        <a:effectLst/>
      </c:spPr>
      <c:txPr>
        <a:bodyPr rot="0" spcFirstLastPara="1" vertOverflow="ellipsis" vert="horz" wrap="square" anchor="ctr" anchorCtr="1"/>
        <a:lstStyle/>
        <a:p>
          <a:pPr>
            <a:defRPr sz="900" b="0" i="0" u="none" strike="noStrike" kern="1200" baseline="0">
              <a:solidFill>
                <a:schemeClr val="tx1">
                  <a:lumMod val="65000"/>
                  <a:lumOff val="35000"/>
                  <a:alpha val="57000"/>
                </a:schemeClr>
              </a:solidFill>
              <a:latin typeface="+mn-lt"/>
              <a:ea typeface="+mn-ea"/>
              <a:cs typeface="+mn-cs"/>
            </a:defRPr>
          </a:pPr>
          <a:endParaRPr lang="en-US"/>
        </a:p>
      </c:txPr>
    </c:legend>
    <c:plotVisOnly val="1"/>
    <c:dispBlanksAs val="gap"/>
    <c:showDLblsOverMax val="0"/>
  </c:chart>
  <c:spPr>
    <a:solidFill>
      <a:sysClr val="window" lastClr="FFFFFF"/>
    </a:solidFill>
    <a:ln w="9525" cap="flat" cmpd="sng" algn="ctr">
      <a:solidFill>
        <a:sysClr val="windowText" lastClr="000000">
          <a:lumMod val="50000"/>
          <a:lumOff val="50000"/>
          <a:alpha val="19000"/>
        </a:sysClr>
      </a:solidFill>
      <a:round/>
    </a:ln>
    <a:effectLst>
      <a:glow rad="63500">
        <a:srgbClr val="E97132">
          <a:satMod val="175000"/>
          <a:alpha val="12000"/>
        </a:srgbClr>
      </a:glow>
      <a:outerShdw blurRad="50800" dist="38100" dir="5400000" algn="t" rotWithShape="0">
        <a:prstClr val="black">
          <a:alpha val="40000"/>
        </a:prstClr>
      </a:outerShdw>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6429E-3625-F0EE-CDE1-74983C85D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EA6B04-ADE3-7AEB-CA3B-8A7DB0C849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EC3B7F-386D-2A2A-A2BA-E24F5CBED25E}"/>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5" name="Footer Placeholder 4">
            <a:extLst>
              <a:ext uri="{FF2B5EF4-FFF2-40B4-BE49-F238E27FC236}">
                <a16:creationId xmlns:a16="http://schemas.microsoft.com/office/drawing/2014/main" id="{08D50BB3-A3D3-3950-C095-D986DBD272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CBBDD3-8060-08D6-D397-537FD7C302D1}"/>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1614259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6BAE-7437-E7B6-0321-D4C7B228DA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1F322F-4B16-4019-5949-5368424AFA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3F1735-2C84-B6F7-1F59-D6575F7B08EF}"/>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5" name="Footer Placeholder 4">
            <a:extLst>
              <a:ext uri="{FF2B5EF4-FFF2-40B4-BE49-F238E27FC236}">
                <a16:creationId xmlns:a16="http://schemas.microsoft.com/office/drawing/2014/main" id="{64989FFA-DF92-18BA-B4B2-5CABF145ED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BDB0A9-4F91-BEF5-A072-5F720C9DDF3C}"/>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65509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1B134-A9F7-6516-5253-895299602B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9386E7-ED47-6E0E-9669-947BE7AE62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3E546B-4C69-E2CC-00E3-11A2DAA785FC}"/>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5" name="Footer Placeholder 4">
            <a:extLst>
              <a:ext uri="{FF2B5EF4-FFF2-40B4-BE49-F238E27FC236}">
                <a16:creationId xmlns:a16="http://schemas.microsoft.com/office/drawing/2014/main" id="{F1ACD4F1-42F0-B981-6CDE-F39510FEC6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7D282D-E954-6A99-9583-3660C29742DB}"/>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825560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096CE-E3DC-FCF8-89C2-7FE36FE919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5283FF-B379-E413-D1B1-E8F840F217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3BCC439-A538-C29A-8B81-32A7CB6E6F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D0FECE-ABAD-AA5A-2F77-FC2D5F91B1AB}"/>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6" name="Footer Placeholder 5">
            <a:extLst>
              <a:ext uri="{FF2B5EF4-FFF2-40B4-BE49-F238E27FC236}">
                <a16:creationId xmlns:a16="http://schemas.microsoft.com/office/drawing/2014/main" id="{09B0E1C8-5EDB-5A35-5308-36539C4761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303255-ECE9-0635-87C0-6571D6B303DC}"/>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9695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CDEC-6BE7-6640-EEE3-607F852A07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1B43FF-E0BF-059B-781D-7F5CF5CAA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ACC4B2-9333-104D-924E-92E468E88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0F3254-8AE1-0834-8DEF-676D1739E1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884EAA-8635-8040-A024-610AFB8333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916406-724F-888B-1424-0EF5663D1A7D}"/>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8" name="Footer Placeholder 7">
            <a:extLst>
              <a:ext uri="{FF2B5EF4-FFF2-40B4-BE49-F238E27FC236}">
                <a16:creationId xmlns:a16="http://schemas.microsoft.com/office/drawing/2014/main" id="{93991076-21AE-2C71-E83E-A7B8624E0F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226CA8-7D7F-D41E-D4F7-EC0AE6E3A699}"/>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401999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3C74D-DC87-F582-16D1-81E0F29107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1E7795-EBD0-A483-D031-CB2D0F4C187E}"/>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4" name="Footer Placeholder 3">
            <a:extLst>
              <a:ext uri="{FF2B5EF4-FFF2-40B4-BE49-F238E27FC236}">
                <a16:creationId xmlns:a16="http://schemas.microsoft.com/office/drawing/2014/main" id="{D26D518E-8128-9C1F-060F-C37FD606DA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4F751E-3DC1-E9F8-C026-1107EEB34265}"/>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1786588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F8E6B4-036A-2402-6596-6EAA52C36B84}"/>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3" name="Footer Placeholder 2">
            <a:extLst>
              <a:ext uri="{FF2B5EF4-FFF2-40B4-BE49-F238E27FC236}">
                <a16:creationId xmlns:a16="http://schemas.microsoft.com/office/drawing/2014/main" id="{A0AE5FFD-2805-5E33-2B66-FFF909263C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0C6050-9844-D288-D390-181D3B901818}"/>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803811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36A4-7515-491A-7FB1-46CDC9779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8815C5D-6A9E-9EA4-1726-EA23ED59E9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47FA68-2005-EE30-485A-A5B344C23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1B9CE3-C172-1658-7A93-F55955C0A55E}"/>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6" name="Footer Placeholder 5">
            <a:extLst>
              <a:ext uri="{FF2B5EF4-FFF2-40B4-BE49-F238E27FC236}">
                <a16:creationId xmlns:a16="http://schemas.microsoft.com/office/drawing/2014/main" id="{B1A7DEB7-23CA-CD8D-04F2-5F10628CB2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2D0BF3-19C2-44B2-9CFA-584CDCF9654A}"/>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43922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8B3EB-404C-15A4-DAEB-7614C252F7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1F49E7-B34F-2A18-6954-D07234F9CF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997293-548F-6285-1435-B3658F281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8F7261-AD33-F7A8-1EFB-E10521FFE6C8}"/>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6" name="Footer Placeholder 5">
            <a:extLst>
              <a:ext uri="{FF2B5EF4-FFF2-40B4-BE49-F238E27FC236}">
                <a16:creationId xmlns:a16="http://schemas.microsoft.com/office/drawing/2014/main" id="{815364AD-B79E-94E0-4B67-CFB2D46ADD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5102B6-A874-206A-BD2B-E62C3383744A}"/>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3505619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1120-7C93-ADCA-42E3-3BE917EBC2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C6BA42-C0EF-39DA-9F59-6A3E4C2259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223720-00ED-B4F7-7D94-C8924450E67C}"/>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5" name="Footer Placeholder 4">
            <a:extLst>
              <a:ext uri="{FF2B5EF4-FFF2-40B4-BE49-F238E27FC236}">
                <a16:creationId xmlns:a16="http://schemas.microsoft.com/office/drawing/2014/main" id="{CD4789A5-B936-80C1-F20A-6F1D54FFE4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BA3B97-1F01-D221-CC28-4A7C68C5E7D5}"/>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539092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1ED00A-B52A-8679-6201-CF2619FC67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DB2533-7C6E-B1E1-4A80-8E2E717CD0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FBC3CC-ACDC-35EB-0B0B-0E12BC3B8A76}"/>
              </a:ext>
            </a:extLst>
          </p:cNvPr>
          <p:cNvSpPr>
            <a:spLocks noGrp="1"/>
          </p:cNvSpPr>
          <p:nvPr>
            <p:ph type="dt" sz="half" idx="10"/>
          </p:nvPr>
        </p:nvSpPr>
        <p:spPr/>
        <p:txBody>
          <a:bodyPr/>
          <a:lstStyle/>
          <a:p>
            <a:fld id="{0E044B61-B5F1-4E54-8FE3-9F387B431724}" type="datetimeFigureOut">
              <a:rPr lang="en-IN" smtClean="0"/>
              <a:t>29-07-2026</a:t>
            </a:fld>
            <a:endParaRPr lang="en-IN"/>
          </a:p>
        </p:txBody>
      </p:sp>
      <p:sp>
        <p:nvSpPr>
          <p:cNvPr id="5" name="Footer Placeholder 4">
            <a:extLst>
              <a:ext uri="{FF2B5EF4-FFF2-40B4-BE49-F238E27FC236}">
                <a16:creationId xmlns:a16="http://schemas.microsoft.com/office/drawing/2014/main" id="{FEAE7965-B4BE-A2C4-B712-D75B839BF2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F4214-D125-544A-3612-59C6ADBF9EF8}"/>
              </a:ext>
            </a:extLst>
          </p:cNvPr>
          <p:cNvSpPr>
            <a:spLocks noGrp="1"/>
          </p:cNvSpPr>
          <p:nvPr>
            <p:ph type="sldNum" sz="quarter" idx="12"/>
          </p:nvPr>
        </p:nvSpPr>
        <p:spPr/>
        <p:txBody>
          <a:bodyPr/>
          <a:lstStyle/>
          <a:p>
            <a:fld id="{BAF856A1-2460-4981-A56A-BC46773E2275}" type="slidenum">
              <a:rPr lang="en-IN" smtClean="0"/>
              <a:t>‹#›</a:t>
            </a:fld>
            <a:endParaRPr lang="en-IN"/>
          </a:p>
        </p:txBody>
      </p:sp>
    </p:spTree>
    <p:extLst>
      <p:ext uri="{BB962C8B-B14F-4D97-AF65-F5344CB8AC3E}">
        <p14:creationId xmlns:p14="http://schemas.microsoft.com/office/powerpoint/2010/main" val="2048059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1FAD34-5C2D-FAAB-0363-46C48E5071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812125-68B6-6ADA-49AB-68F2C176CB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FE6B5B-08A6-79A7-C194-0DEBC5CD81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44B61-B5F1-4E54-8FE3-9F387B431724}" type="datetimeFigureOut">
              <a:rPr lang="en-IN" smtClean="0"/>
              <a:t>29-07-2026</a:t>
            </a:fld>
            <a:endParaRPr lang="en-IN"/>
          </a:p>
        </p:txBody>
      </p:sp>
      <p:sp>
        <p:nvSpPr>
          <p:cNvPr id="5" name="Footer Placeholder 4">
            <a:extLst>
              <a:ext uri="{FF2B5EF4-FFF2-40B4-BE49-F238E27FC236}">
                <a16:creationId xmlns:a16="http://schemas.microsoft.com/office/drawing/2014/main" id="{989962FE-9632-6C84-66DF-FFE651BE59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CB40143-3193-746A-15DC-2AA17B29E3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F856A1-2460-4981-A56A-BC46773E2275}" type="slidenum">
              <a:rPr lang="en-IN" smtClean="0"/>
              <a:t>‹#›</a:t>
            </a:fld>
            <a:endParaRPr lang="en-IN"/>
          </a:p>
        </p:txBody>
      </p:sp>
    </p:spTree>
    <p:extLst>
      <p:ext uri="{BB962C8B-B14F-4D97-AF65-F5344CB8AC3E}">
        <p14:creationId xmlns:p14="http://schemas.microsoft.com/office/powerpoint/2010/main" val="224477950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hyperlink" Target="https://www.linkedin.com/in/mohamedahsan08/"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github.com/ahsankassim/Bangalore_Citizen_Complaint_Analysis" TargetMode="Externa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B43C0D-F3FB-88F3-6DFF-B9D545692C6A}"/>
              </a:ext>
            </a:extLst>
          </p:cNvPr>
          <p:cNvPicPr/>
          <p:nvPr/>
        </p:nvPicPr>
        <p:blipFill>
          <a:blip r:embed="rId2">
            <a:alphaModFix amt="35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pic>
        <p:nvPicPr>
          <p:cNvPr id="3" name="Picture 2">
            <a:extLst>
              <a:ext uri="{FF2B5EF4-FFF2-40B4-BE49-F238E27FC236}">
                <a16:creationId xmlns:a16="http://schemas.microsoft.com/office/drawing/2014/main" id="{7D12D1C3-BAD4-4609-26EF-C7137462BDC9}"/>
              </a:ext>
            </a:extLst>
          </p:cNvPr>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a:off x="0" y="5297557"/>
            <a:ext cx="6096000" cy="1560443"/>
          </a:xfrm>
          <a:prstGeom prst="rect">
            <a:avLst/>
          </a:prstGeom>
        </p:spPr>
      </p:pic>
      <p:pic>
        <p:nvPicPr>
          <p:cNvPr id="4" name="Picture 3">
            <a:extLst>
              <a:ext uri="{FF2B5EF4-FFF2-40B4-BE49-F238E27FC236}">
                <a16:creationId xmlns:a16="http://schemas.microsoft.com/office/drawing/2014/main" id="{ECF4BAFF-01F7-F8FB-BD2A-56D2CCEBD782}"/>
              </a:ext>
            </a:extLst>
          </p:cNvPr>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sp>
        <p:nvSpPr>
          <p:cNvPr id="5" name="TextBox 4">
            <a:extLst>
              <a:ext uri="{FF2B5EF4-FFF2-40B4-BE49-F238E27FC236}">
                <a16:creationId xmlns:a16="http://schemas.microsoft.com/office/drawing/2014/main" id="{E02E075E-78A3-1613-A363-B6974F6FEB33}"/>
              </a:ext>
            </a:extLst>
          </p:cNvPr>
          <p:cNvSpPr txBox="1"/>
          <p:nvPr/>
        </p:nvSpPr>
        <p:spPr>
          <a:xfrm>
            <a:off x="1747723" y="1649161"/>
            <a:ext cx="6928918" cy="2308324"/>
          </a:xfrm>
          <a:prstGeom prst="rect">
            <a:avLst/>
          </a:prstGeom>
          <a:noFill/>
        </p:spPr>
        <p:txBody>
          <a:bodyPr wrap="square" rtlCol="0">
            <a:spAutoFit/>
          </a:bodyPr>
          <a:lstStyle/>
          <a:p>
            <a:r>
              <a:rPr lang="en-IN" sz="7200" b="1" dirty="0">
                <a:solidFill>
                  <a:schemeClr val="tx1">
                    <a:lumMod val="75000"/>
                    <a:lumOff val="25000"/>
                  </a:schemeClr>
                </a:solidFill>
                <a:latin typeface="Bahnschrift SemiBold Condensed" panose="020B0502040204020203" pitchFamily="34" charset="0"/>
              </a:rPr>
              <a:t>What happens to your </a:t>
            </a:r>
            <a:r>
              <a:rPr lang="en-IN" sz="7200" b="1" dirty="0">
                <a:solidFill>
                  <a:srgbClr val="FF8800"/>
                </a:solidFill>
                <a:latin typeface="Bahnschrift SemiBold Condensed" panose="020B0502040204020203" pitchFamily="34" charset="0"/>
              </a:rPr>
              <a:t>complaint</a:t>
            </a:r>
            <a:r>
              <a:rPr lang="en-IN" sz="7200" b="1" dirty="0">
                <a:solidFill>
                  <a:schemeClr val="tx1">
                    <a:lumMod val="75000"/>
                    <a:lumOff val="25000"/>
                  </a:schemeClr>
                </a:solidFill>
                <a:latin typeface="Bahnschrift SemiBold Condensed" panose="020B0502040204020203" pitchFamily="34" charset="0"/>
              </a:rPr>
              <a:t>?</a:t>
            </a:r>
            <a:endParaRPr lang="en-IN" sz="4800" dirty="0">
              <a:solidFill>
                <a:schemeClr val="tx1">
                  <a:lumMod val="75000"/>
                  <a:lumOff val="25000"/>
                </a:schemeClr>
              </a:solidFill>
              <a:latin typeface="Bahnschrift SemiBold Condensed" panose="020B0502040204020203" pitchFamily="34" charset="0"/>
            </a:endParaRPr>
          </a:p>
        </p:txBody>
      </p:sp>
      <p:sp>
        <p:nvSpPr>
          <p:cNvPr id="6" name="TextBox 5">
            <a:extLst>
              <a:ext uri="{FF2B5EF4-FFF2-40B4-BE49-F238E27FC236}">
                <a16:creationId xmlns:a16="http://schemas.microsoft.com/office/drawing/2014/main" id="{56EF131C-696F-9B66-96C2-EA1C3BE713BA}"/>
              </a:ext>
            </a:extLst>
          </p:cNvPr>
          <p:cNvSpPr txBox="1"/>
          <p:nvPr/>
        </p:nvSpPr>
        <p:spPr>
          <a:xfrm>
            <a:off x="1860342" y="3957485"/>
            <a:ext cx="7375098" cy="523220"/>
          </a:xfrm>
          <a:prstGeom prst="rect">
            <a:avLst/>
          </a:prstGeom>
          <a:noFill/>
        </p:spPr>
        <p:txBody>
          <a:bodyPr wrap="square" rtlCol="0">
            <a:spAutoFit/>
          </a:bodyPr>
          <a:lstStyle/>
          <a:p>
            <a:r>
              <a:rPr lang="en-US" sz="2800" dirty="0">
                <a:solidFill>
                  <a:schemeClr val="bg1">
                    <a:lumMod val="65000"/>
                  </a:schemeClr>
                </a:solidFill>
                <a:latin typeface="Bahnschrift SemiBold Condensed" panose="020B0502040204020203" pitchFamily="34" charset="0"/>
              </a:rPr>
              <a:t>An Analysis of Bangalore City’s Complaint Data, 2019 to 2022</a:t>
            </a:r>
            <a:endParaRPr lang="en-IN" sz="2800" dirty="0">
              <a:solidFill>
                <a:schemeClr val="bg1">
                  <a:lumMod val="65000"/>
                </a:schemeClr>
              </a:solidFill>
              <a:latin typeface="Bahnschrift SemiBold Condensed" panose="020B0502040204020203" pitchFamily="34" charset="0"/>
            </a:endParaRPr>
          </a:p>
        </p:txBody>
      </p:sp>
      <p:sp>
        <p:nvSpPr>
          <p:cNvPr id="7" name="TextBox 6">
            <a:extLst>
              <a:ext uri="{FF2B5EF4-FFF2-40B4-BE49-F238E27FC236}">
                <a16:creationId xmlns:a16="http://schemas.microsoft.com/office/drawing/2014/main" id="{930A941F-1D91-E160-E43B-94087946C2C4}"/>
              </a:ext>
            </a:extLst>
          </p:cNvPr>
          <p:cNvSpPr txBox="1"/>
          <p:nvPr/>
        </p:nvSpPr>
        <p:spPr>
          <a:xfrm>
            <a:off x="1860341" y="4678414"/>
            <a:ext cx="4235655" cy="307777"/>
          </a:xfrm>
          <a:prstGeom prst="rect">
            <a:avLst/>
          </a:prstGeom>
          <a:noFill/>
        </p:spPr>
        <p:txBody>
          <a:bodyPr wrap="square" rtlCol="0">
            <a:spAutoFit/>
          </a:bodyPr>
          <a:lstStyle/>
          <a:p>
            <a:r>
              <a:rPr lang="en-US" sz="1400" dirty="0">
                <a:solidFill>
                  <a:schemeClr val="bg1">
                    <a:lumMod val="75000"/>
                  </a:schemeClr>
                </a:solidFill>
                <a:latin typeface="Aptos Display" panose="020B0004020202020204" pitchFamily="34" charset="0"/>
              </a:rPr>
              <a:t>16K complaints | 198 wards | 11 agencies | 42 categories</a:t>
            </a:r>
            <a:endParaRPr lang="en-IN" sz="1400" dirty="0">
              <a:solidFill>
                <a:schemeClr val="bg1">
                  <a:lumMod val="75000"/>
                </a:schemeClr>
              </a:solidFill>
              <a:latin typeface="Aptos Display" panose="020B0004020202020204" pitchFamily="34" charset="0"/>
            </a:endParaRPr>
          </a:p>
        </p:txBody>
      </p:sp>
      <p:sp>
        <p:nvSpPr>
          <p:cNvPr id="8" name="TextBox 7">
            <a:extLst>
              <a:ext uri="{FF2B5EF4-FFF2-40B4-BE49-F238E27FC236}">
                <a16:creationId xmlns:a16="http://schemas.microsoft.com/office/drawing/2014/main" id="{1205808A-E5C0-F2CD-4BAA-1A2C5C6627A8}"/>
              </a:ext>
            </a:extLst>
          </p:cNvPr>
          <p:cNvSpPr txBox="1"/>
          <p:nvPr/>
        </p:nvSpPr>
        <p:spPr>
          <a:xfrm>
            <a:off x="1860341" y="5040856"/>
            <a:ext cx="2875280" cy="307777"/>
          </a:xfrm>
          <a:prstGeom prst="rect">
            <a:avLst/>
          </a:prstGeom>
          <a:noFill/>
        </p:spPr>
        <p:txBody>
          <a:bodyPr wrap="square" rtlCol="0">
            <a:spAutoFit/>
          </a:bodyPr>
          <a:lstStyle/>
          <a:p>
            <a:r>
              <a:rPr lang="en-US" sz="1400" dirty="0">
                <a:solidFill>
                  <a:schemeClr val="bg1">
                    <a:lumMod val="75000"/>
                  </a:schemeClr>
                </a:solidFill>
                <a:latin typeface="+mj-lt"/>
                <a:ea typeface="Calibri Light" panose="020F0302020204030204" pitchFamily="34" charset="0"/>
                <a:cs typeface="Calibri Light" panose="020F0302020204030204" pitchFamily="34" charset="0"/>
              </a:rPr>
              <a:t>Mohamed Ahsan | Data Analyst</a:t>
            </a:r>
            <a:endParaRPr lang="en-IN" sz="1400" dirty="0">
              <a:solidFill>
                <a:schemeClr val="bg1">
                  <a:lumMod val="75000"/>
                </a:schemeClr>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51688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F4893AA-9211-B465-0457-0F0F5B2CAA90}"/>
              </a:ext>
            </a:extLst>
          </p:cNvPr>
          <p:cNvPicPr>
            <a:picLocks noGrp="1" noRot="1" noChangeAspect="1" noMove="1" noResize="1" noEditPoints="1" noAdjustHandles="1" noChangeArrowheads="1" noChangeShapeType="1" noCrop="1"/>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a:off x="-3" y="5325842"/>
            <a:ext cx="6096000" cy="1560443"/>
          </a:xfrm>
          <a:prstGeom prst="rect">
            <a:avLst/>
          </a:prstGeom>
        </p:spPr>
      </p:pic>
      <p:pic>
        <p:nvPicPr>
          <p:cNvPr id="11" name="Picture 10">
            <a:extLst>
              <a:ext uri="{FF2B5EF4-FFF2-40B4-BE49-F238E27FC236}">
                <a16:creationId xmlns:a16="http://schemas.microsoft.com/office/drawing/2014/main" id="{1B95E69C-57A3-7E7D-5558-625061B175D8}"/>
              </a:ext>
            </a:extLst>
          </p:cNvPr>
          <p:cNvPicPr>
            <a:picLocks noGrp="1" noRot="1" noChangeAspect="1" noMove="1" noResize="1" noEditPoints="1" noAdjustHandles="1" noChangeArrowheads="1" noChangeShapeType="1" noCrop="1"/>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pic>
        <p:nvPicPr>
          <p:cNvPr id="10" name="Picture 9">
            <a:extLst>
              <a:ext uri="{FF2B5EF4-FFF2-40B4-BE49-F238E27FC236}">
                <a16:creationId xmlns:a16="http://schemas.microsoft.com/office/drawing/2014/main" id="{9CCFF5E8-CD79-0F5E-A741-F5EA683DD9B0}"/>
              </a:ext>
            </a:extLst>
          </p:cNvPr>
          <p:cNvPicPr>
            <a:picLocks noGrp="1" noRot="1" noChangeAspect="1" noMove="1" noResize="1" noEditPoints="1" noAdjustHandles="1" noChangeArrowheads="1" noChangeShapeType="1" noCrop="1"/>
          </p:cNvPicPr>
          <p:nvPr/>
        </p:nvPicPr>
        <p:blipFill>
          <a:blip r:embed="rId2">
            <a:alphaModFix amt="17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pic>
        <p:nvPicPr>
          <p:cNvPr id="4" name="Picture 3">
            <a:extLst>
              <a:ext uri="{FF2B5EF4-FFF2-40B4-BE49-F238E27FC236}">
                <a16:creationId xmlns:a16="http://schemas.microsoft.com/office/drawing/2014/main" id="{21091902-521E-72A0-C847-1A2379F2B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655" y="1286548"/>
            <a:ext cx="9548687" cy="3276884"/>
          </a:xfrm>
          <a:prstGeom prst="rect">
            <a:avLst/>
          </a:prstGeom>
        </p:spPr>
      </p:pic>
      <p:sp>
        <p:nvSpPr>
          <p:cNvPr id="5" name="TextBox 4">
            <a:extLst>
              <a:ext uri="{FF2B5EF4-FFF2-40B4-BE49-F238E27FC236}">
                <a16:creationId xmlns:a16="http://schemas.microsoft.com/office/drawing/2014/main" id="{5B819581-120C-69B1-F00E-BE9CA29FA4E1}"/>
              </a:ext>
            </a:extLst>
          </p:cNvPr>
          <p:cNvSpPr txBox="1"/>
          <p:nvPr/>
        </p:nvSpPr>
        <p:spPr>
          <a:xfrm>
            <a:off x="4076967" y="152089"/>
            <a:ext cx="4038063" cy="769441"/>
          </a:xfrm>
          <a:prstGeom prst="rect">
            <a:avLst/>
          </a:prstGeom>
          <a:noFill/>
        </p:spPr>
        <p:txBody>
          <a:bodyPr wrap="square" rtlCol="0">
            <a:spAutoFit/>
          </a:bodyPr>
          <a:lstStyle/>
          <a:p>
            <a:pPr>
              <a:spcBef>
                <a:spcPts val="50"/>
              </a:spcBef>
              <a:spcAft>
                <a:spcPts val="50"/>
              </a:spcAft>
            </a:pPr>
            <a:r>
              <a:rPr lang="en-IN" sz="4400" b="1" dirty="0">
                <a:solidFill>
                  <a:schemeClr val="tx1">
                    <a:lumMod val="75000"/>
                    <a:lumOff val="25000"/>
                  </a:schemeClr>
                </a:solidFill>
                <a:latin typeface="Bahnschrift SemiBold Condensed" panose="020B0502040204020203" pitchFamily="34" charset="0"/>
              </a:rPr>
              <a:t>The </a:t>
            </a:r>
            <a:r>
              <a:rPr lang="en-IN" sz="4400" b="1" dirty="0">
                <a:solidFill>
                  <a:srgbClr val="FF8800"/>
                </a:solidFill>
                <a:latin typeface="Bahnschrift SemiBold Condensed" panose="020B0502040204020203" pitchFamily="34" charset="0"/>
              </a:rPr>
              <a:t>Temporal</a:t>
            </a:r>
            <a:r>
              <a:rPr lang="en-IN" sz="4400" b="1" dirty="0">
                <a:solidFill>
                  <a:schemeClr val="tx1">
                    <a:lumMod val="75000"/>
                    <a:lumOff val="25000"/>
                  </a:schemeClr>
                </a:solidFill>
                <a:latin typeface="Bahnschrift SemiBold Condensed" panose="020B0502040204020203" pitchFamily="34" charset="0"/>
              </a:rPr>
              <a:t> Insight</a:t>
            </a:r>
            <a:endParaRPr lang="en-IN" sz="4400" dirty="0">
              <a:solidFill>
                <a:schemeClr val="tx1">
                  <a:lumMod val="65000"/>
                  <a:lumOff val="35000"/>
                </a:schemeClr>
              </a:solidFill>
              <a:latin typeface="Bahnschrift SemiBold Condensed" panose="020B0502040204020203" pitchFamily="34" charset="0"/>
            </a:endParaRPr>
          </a:p>
        </p:txBody>
      </p:sp>
      <p:sp>
        <p:nvSpPr>
          <p:cNvPr id="13" name="TextBox 12">
            <a:extLst>
              <a:ext uri="{FF2B5EF4-FFF2-40B4-BE49-F238E27FC236}">
                <a16:creationId xmlns:a16="http://schemas.microsoft.com/office/drawing/2014/main" id="{AB50BD34-2D46-A9E4-0B0B-8C999B60923B}"/>
              </a:ext>
            </a:extLst>
          </p:cNvPr>
          <p:cNvSpPr txBox="1"/>
          <p:nvPr/>
        </p:nvSpPr>
        <p:spPr>
          <a:xfrm>
            <a:off x="1321655" y="4471992"/>
            <a:ext cx="9458106" cy="1815882"/>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Covid-19 has played a major role in city complaint volume over the period, being potentially responsible for the dip in complaints from Apr 2020 (first national lockdown) and also could be responsible for the dip in complaints from May 2021. Moreover, alongside this the expiry of BBMP council’s term after which the administration was taken by the municipal corporation could also plausibly explain the spike in complaints in Dec 2020</a:t>
            </a:r>
          </a:p>
          <a:p>
            <a:endPar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The 2019 Lok Sabha elections (Mar – May 2019) together with the cancellation of the state sponsored Tipu Jayanthi Celebrations (Jul 2019) and government transition post election could be possible causes for elevated complaint levels from Mar 2019</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15" name="TextBox 14">
            <a:extLst>
              <a:ext uri="{FF2B5EF4-FFF2-40B4-BE49-F238E27FC236}">
                <a16:creationId xmlns:a16="http://schemas.microsoft.com/office/drawing/2014/main" id="{0FC1DA3E-145F-2FA0-D53E-AB50AC58AB74}"/>
              </a:ext>
            </a:extLst>
          </p:cNvPr>
          <p:cNvSpPr txBox="1"/>
          <p:nvPr/>
        </p:nvSpPr>
        <p:spPr>
          <a:xfrm>
            <a:off x="2988436" y="6444301"/>
            <a:ext cx="6215122" cy="261610"/>
          </a:xfrm>
          <a:prstGeom prst="rect">
            <a:avLst/>
          </a:prstGeom>
          <a:noFill/>
        </p:spPr>
        <p:txBody>
          <a:bodyPr wrap="square" rtlCol="0">
            <a:spAutoFit/>
          </a:bodyPr>
          <a:lstStyle/>
          <a:p>
            <a:r>
              <a:rPr lang="en-US" sz="1100" i="1" dirty="0">
                <a:solidFill>
                  <a:schemeClr val="tx1">
                    <a:lumMod val="50000"/>
                    <a:lumOff val="50000"/>
                  </a:schemeClr>
                </a:solidFill>
                <a:latin typeface="Bahnschrift Light" panose="020B0502040204020203" pitchFamily="34" charset="0"/>
              </a:rPr>
              <a:t>Note : External context sourced via online research, not verified against primary news archives.</a:t>
            </a:r>
            <a:endParaRPr lang="en-IN" sz="1100" i="1" dirty="0">
              <a:solidFill>
                <a:schemeClr val="tx1">
                  <a:lumMod val="50000"/>
                  <a:lumOff val="50000"/>
                </a:schemeClr>
              </a:solidFill>
              <a:latin typeface="Bahnschrift Light" panose="020B0502040204020203" pitchFamily="34" charset="0"/>
            </a:endParaRPr>
          </a:p>
        </p:txBody>
      </p:sp>
    </p:spTree>
    <p:extLst>
      <p:ext uri="{BB962C8B-B14F-4D97-AF65-F5344CB8AC3E}">
        <p14:creationId xmlns:p14="http://schemas.microsoft.com/office/powerpoint/2010/main" val="53307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95000"/>
              </a:schemeClr>
            </a:gs>
            <a:gs pos="23000">
              <a:schemeClr val="bg1"/>
            </a:gs>
            <a:gs pos="69000">
              <a:schemeClr val="bg1"/>
            </a:gs>
            <a:gs pos="97000">
              <a:schemeClr val="bg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951B99-41D3-32E1-6DDD-AD962C6886F5}"/>
              </a:ext>
            </a:extLst>
          </p:cNvPr>
          <p:cNvSpPr txBox="1"/>
          <p:nvPr/>
        </p:nvSpPr>
        <p:spPr>
          <a:xfrm>
            <a:off x="2175766" y="223599"/>
            <a:ext cx="7840459" cy="1015663"/>
          </a:xfrm>
          <a:prstGeom prst="rect">
            <a:avLst/>
          </a:prstGeom>
          <a:noFill/>
        </p:spPr>
        <p:txBody>
          <a:bodyPr wrap="square" rtlCol="0">
            <a:spAutoFit/>
          </a:bodyPr>
          <a:lstStyle/>
          <a:p>
            <a:r>
              <a:rPr lang="en-IN" sz="6000" b="1" dirty="0">
                <a:solidFill>
                  <a:srgbClr val="FF8800"/>
                </a:solidFill>
                <a:latin typeface="Bahnschrift SemiBold Condensed" panose="020B0502040204020203" pitchFamily="34" charset="0"/>
              </a:rPr>
              <a:t>6 of </a:t>
            </a:r>
            <a:r>
              <a:rPr lang="en-IN" sz="6000" b="1" dirty="0">
                <a:solidFill>
                  <a:schemeClr val="tx1">
                    <a:lumMod val="75000"/>
                    <a:lumOff val="25000"/>
                  </a:schemeClr>
                </a:solidFill>
                <a:latin typeface="Bahnschrift SemiBold Condensed" panose="020B0502040204020203" pitchFamily="34" charset="0"/>
              </a:rPr>
              <a:t>16 </a:t>
            </a:r>
            <a:r>
              <a:rPr lang="en-IN" sz="4000" dirty="0">
                <a:solidFill>
                  <a:schemeClr val="tx1">
                    <a:lumMod val="75000"/>
                    <a:lumOff val="25000"/>
                  </a:schemeClr>
                </a:solidFill>
                <a:latin typeface="Bahnschrift SemiBold Condensed" panose="020B0502040204020203" pitchFamily="34" charset="0"/>
              </a:rPr>
              <a:t>Categories, Under </a:t>
            </a:r>
            <a:r>
              <a:rPr lang="en-IN" sz="4000" dirty="0">
                <a:solidFill>
                  <a:srgbClr val="C00000"/>
                </a:solidFill>
                <a:latin typeface="Bahnschrift SemiBold Condensed" panose="020B0502040204020203" pitchFamily="34" charset="0"/>
              </a:rPr>
              <a:t>5%</a:t>
            </a:r>
            <a:r>
              <a:rPr lang="en-IN" sz="4000" dirty="0">
                <a:latin typeface="Bahnschrift SemiBold Condensed" panose="020B0502040204020203" pitchFamily="34" charset="0"/>
              </a:rPr>
              <a:t> </a:t>
            </a:r>
            <a:r>
              <a:rPr lang="en-IN" sz="4000" dirty="0">
                <a:solidFill>
                  <a:schemeClr val="tx1">
                    <a:lumMod val="75000"/>
                    <a:lumOff val="25000"/>
                  </a:schemeClr>
                </a:solidFill>
                <a:latin typeface="Bahnschrift SemiBold Condensed" panose="020B0502040204020203" pitchFamily="34" charset="0"/>
              </a:rPr>
              <a:t>acceptance</a:t>
            </a:r>
          </a:p>
        </p:txBody>
      </p:sp>
      <p:pic>
        <p:nvPicPr>
          <p:cNvPr id="9" name="Picture 8">
            <a:extLst>
              <a:ext uri="{FF2B5EF4-FFF2-40B4-BE49-F238E27FC236}">
                <a16:creationId xmlns:a16="http://schemas.microsoft.com/office/drawing/2014/main" id="{BE45C661-50E4-1906-07DA-FBBBF0CB1D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68494" y="1356237"/>
            <a:ext cx="6905194" cy="3729813"/>
          </a:xfrm>
          <a:prstGeom prst="rect">
            <a:avLst/>
          </a:prstGeom>
        </p:spPr>
      </p:pic>
      <p:sp>
        <p:nvSpPr>
          <p:cNvPr id="2" name="TextBox 1">
            <a:extLst>
              <a:ext uri="{FF2B5EF4-FFF2-40B4-BE49-F238E27FC236}">
                <a16:creationId xmlns:a16="http://schemas.microsoft.com/office/drawing/2014/main" id="{E964A8C1-4EA2-7EED-3BB6-275451DF83DC}"/>
              </a:ext>
            </a:extLst>
          </p:cNvPr>
          <p:cNvSpPr txBox="1"/>
          <p:nvPr/>
        </p:nvSpPr>
        <p:spPr>
          <a:xfrm>
            <a:off x="861572" y="5203025"/>
            <a:ext cx="10833603" cy="954107"/>
          </a:xfrm>
          <a:prstGeom prst="rect">
            <a:avLst/>
          </a:prstGeom>
          <a:noFill/>
        </p:spPr>
        <p:txBody>
          <a:bodyPr wrap="square" rtlCol="0">
            <a:spAutoFit/>
          </a:bodyPr>
          <a:lstStyle/>
          <a:p>
            <a:pPr marL="171450" indent="-171450">
              <a:buFont typeface="Arial" panose="020B0604020202020204" pitchFamily="34" charset="0"/>
              <a:buChar char="•"/>
            </a:pPr>
            <a:r>
              <a:rPr lang="en-IN" sz="1400" dirty="0">
                <a:solidFill>
                  <a:schemeClr val="tx1">
                    <a:lumMod val="50000"/>
                    <a:lumOff val="50000"/>
                  </a:schemeClr>
                </a:solidFill>
                <a:latin typeface="Bahnschrift Light" panose="020B0502040204020203" pitchFamily="34" charset="0"/>
              </a:rPr>
              <a:t>Acceptance refers to complaints that were acknowledged as of the cut off date. Simply means complaints with any status title other than “open”</a:t>
            </a:r>
          </a:p>
          <a:p>
            <a:pPr marL="171450" indent="-171450">
              <a:buFont typeface="Arial" panose="020B0604020202020204" pitchFamily="34" charset="0"/>
              <a:buChar char="•"/>
            </a:pPr>
            <a:r>
              <a:rPr lang="en-IN" sz="1400" dirty="0">
                <a:solidFill>
                  <a:schemeClr val="tx1">
                    <a:lumMod val="50000"/>
                    <a:lumOff val="50000"/>
                  </a:schemeClr>
                </a:solidFill>
                <a:latin typeface="Bahnschrift Light" panose="020B0502040204020203" pitchFamily="34" charset="0"/>
              </a:rPr>
              <a:t>complaints with open status are ambiguous, since the dataset has a fixed cutoff, it could mean complaints are in process or </a:t>
            </a:r>
            <a:r>
              <a:rPr lang="en-IN" sz="1400" dirty="0">
                <a:solidFill>
                  <a:schemeClr val="bg1">
                    <a:lumMod val="50000"/>
                  </a:schemeClr>
                </a:solidFill>
                <a:latin typeface="Bahnschrift Light" panose="020B0502040204020203" pitchFamily="34" charset="0"/>
              </a:rPr>
              <a:t>being deliberately left unresolved to avoid a worse-looking status like Closed or Ignored.</a:t>
            </a:r>
            <a:endParaRPr lang="en-IN" sz="1400" dirty="0">
              <a:solidFill>
                <a:schemeClr val="tx1">
                  <a:lumMod val="50000"/>
                  <a:lumOff val="50000"/>
                </a:schemeClr>
              </a:solidFill>
              <a:latin typeface="Bahnschrift Light" panose="020B0502040204020203" pitchFamily="34" charset="0"/>
            </a:endParaRPr>
          </a:p>
        </p:txBody>
      </p:sp>
      <p:sp>
        <p:nvSpPr>
          <p:cNvPr id="8" name="TextBox 7">
            <a:extLst>
              <a:ext uri="{FF2B5EF4-FFF2-40B4-BE49-F238E27FC236}">
                <a16:creationId xmlns:a16="http://schemas.microsoft.com/office/drawing/2014/main" id="{2346C50B-16DA-F872-5A92-8D52C95BB076}"/>
              </a:ext>
            </a:extLst>
          </p:cNvPr>
          <p:cNvSpPr txBox="1"/>
          <p:nvPr/>
        </p:nvSpPr>
        <p:spPr>
          <a:xfrm>
            <a:off x="3028950" y="6457215"/>
            <a:ext cx="7386066" cy="261610"/>
          </a:xfrm>
          <a:prstGeom prst="rect">
            <a:avLst/>
          </a:prstGeom>
          <a:noFill/>
        </p:spPr>
        <p:txBody>
          <a:bodyPr wrap="square">
            <a:spAutoFit/>
          </a:bodyPr>
          <a:lstStyle/>
          <a:p>
            <a:r>
              <a:rPr lang="en-IN" sz="1100" i="1" dirty="0">
                <a:solidFill>
                  <a:schemeClr val="tx1">
                    <a:lumMod val="50000"/>
                    <a:lumOff val="50000"/>
                  </a:schemeClr>
                </a:solidFill>
                <a:latin typeface="Bahnschrift Light" panose="020B0502040204020203" pitchFamily="34" charset="0"/>
              </a:rPr>
              <a:t>Note: Only categories with more than 100 complaints registered are considered to avoid small sample bias.</a:t>
            </a:r>
          </a:p>
        </p:txBody>
      </p:sp>
    </p:spTree>
    <p:extLst>
      <p:ext uri="{BB962C8B-B14F-4D97-AF65-F5344CB8AC3E}">
        <p14:creationId xmlns:p14="http://schemas.microsoft.com/office/powerpoint/2010/main" val="287903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3D4C3F-C152-FF54-4CCC-5406E7F2AD72}"/>
              </a:ext>
            </a:extLst>
          </p:cNvPr>
          <p:cNvSpPr txBox="1"/>
          <p:nvPr/>
        </p:nvSpPr>
        <p:spPr>
          <a:xfrm>
            <a:off x="589483" y="293654"/>
            <a:ext cx="3093210" cy="2308324"/>
          </a:xfrm>
          <a:prstGeom prst="rect">
            <a:avLst/>
          </a:prstGeom>
          <a:noFill/>
        </p:spPr>
        <p:txBody>
          <a:bodyPr wrap="square" rtlCol="0">
            <a:spAutoFit/>
          </a:bodyPr>
          <a:lstStyle/>
          <a:p>
            <a:r>
              <a:rPr lang="en-IN" sz="7200" b="1" dirty="0">
                <a:solidFill>
                  <a:srgbClr val="FF8800"/>
                </a:solidFill>
                <a:latin typeface="Bahnschrift SemiBold Condensed" panose="020B0502040204020203" pitchFamily="34" charset="0"/>
              </a:rPr>
              <a:t>Why </a:t>
            </a:r>
            <a:r>
              <a:rPr lang="en-IN" sz="7200" b="1" dirty="0">
                <a:solidFill>
                  <a:schemeClr val="tx1">
                    <a:lumMod val="75000"/>
                    <a:lumOff val="25000"/>
                  </a:schemeClr>
                </a:solidFill>
                <a:latin typeface="Bahnschrift SemiBold Condensed" panose="020B0502040204020203" pitchFamily="34" charset="0"/>
              </a:rPr>
              <a:t>It matters?</a:t>
            </a:r>
            <a:endParaRPr lang="en-IN" sz="4800" dirty="0">
              <a:solidFill>
                <a:schemeClr val="tx1">
                  <a:lumMod val="75000"/>
                  <a:lumOff val="25000"/>
                </a:schemeClr>
              </a:solidFill>
              <a:latin typeface="Bahnschrift SemiBold Condensed" panose="020B0502040204020203" pitchFamily="34" charset="0"/>
            </a:endParaRPr>
          </a:p>
        </p:txBody>
      </p:sp>
      <p:pic>
        <p:nvPicPr>
          <p:cNvPr id="5" name="Picture 4">
            <a:extLst>
              <a:ext uri="{FF2B5EF4-FFF2-40B4-BE49-F238E27FC236}">
                <a16:creationId xmlns:a16="http://schemas.microsoft.com/office/drawing/2014/main" id="{3B8A44FF-06E4-FE9C-FA51-32FBF6EFB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1521" y="503217"/>
            <a:ext cx="7060996" cy="5350666"/>
          </a:xfrm>
          <a:prstGeom prst="rect">
            <a:avLst/>
          </a:prstGeom>
        </p:spPr>
      </p:pic>
      <p:sp>
        <p:nvSpPr>
          <p:cNvPr id="6" name="TextBox 5">
            <a:extLst>
              <a:ext uri="{FF2B5EF4-FFF2-40B4-BE49-F238E27FC236}">
                <a16:creationId xmlns:a16="http://schemas.microsoft.com/office/drawing/2014/main" id="{1EA9CB35-8681-0773-A754-7C8487FDE790}"/>
              </a:ext>
            </a:extLst>
          </p:cNvPr>
          <p:cNvSpPr txBox="1"/>
          <p:nvPr/>
        </p:nvSpPr>
        <p:spPr>
          <a:xfrm>
            <a:off x="589482" y="2762265"/>
            <a:ext cx="3496743" cy="2462213"/>
          </a:xfrm>
          <a:prstGeom prst="rect">
            <a:avLst/>
          </a:prstGeom>
          <a:noFill/>
        </p:spPr>
        <p:txBody>
          <a:bodyPr wrap="square" rtlCol="0">
            <a:spAutoFit/>
          </a:bodyPr>
          <a:lstStyle/>
          <a:p>
            <a:pPr algn="just"/>
            <a:r>
              <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Aggregate resolution rate does not distinguish between complaints not acknowledged as of the cutoff date, complaints still in process, and complaints that reached a terminal status without resolution (e.g., closed unresolved or ignored).For categories with low acceptance, resolution rate understates how much of the process is upstream acceptance lag rather than actual resolution failure.</a:t>
            </a:r>
          </a:p>
        </p:txBody>
      </p:sp>
      <p:sp>
        <p:nvSpPr>
          <p:cNvPr id="3" name="TextBox 2">
            <a:extLst>
              <a:ext uri="{FF2B5EF4-FFF2-40B4-BE49-F238E27FC236}">
                <a16:creationId xmlns:a16="http://schemas.microsoft.com/office/drawing/2014/main" id="{26594D5B-16BD-9B91-58CF-E5E7A4A13864}"/>
              </a:ext>
            </a:extLst>
          </p:cNvPr>
          <p:cNvSpPr txBox="1"/>
          <p:nvPr/>
        </p:nvSpPr>
        <p:spPr>
          <a:xfrm>
            <a:off x="5765597" y="5338357"/>
            <a:ext cx="5836920" cy="1031051"/>
          </a:xfrm>
          <a:prstGeom prst="rect">
            <a:avLst/>
          </a:prstGeom>
          <a:noFill/>
        </p:spPr>
        <p:txBody>
          <a:bodyPr wrap="square" rtlCol="0">
            <a:spAutoFit/>
          </a:bodyPr>
          <a:lstStyle/>
          <a:p>
            <a:pPr algn="r">
              <a:spcAft>
                <a:spcPts val="600"/>
              </a:spcAft>
            </a:pPr>
            <a:r>
              <a:rPr lang="en-IN" sz="2800" b="1" dirty="0">
                <a:solidFill>
                  <a:schemeClr val="accent2">
                    <a:lumMod val="75000"/>
                  </a:schemeClr>
                </a:solidFill>
                <a:latin typeface="Bahnschrift SemiBold Condensed" panose="020B0502040204020203" pitchFamily="34" charset="0"/>
              </a:rPr>
              <a:t>33% </a:t>
            </a:r>
            <a:r>
              <a:rPr lang="en-IN" sz="2800" b="1" dirty="0">
                <a:solidFill>
                  <a:schemeClr val="tx1">
                    <a:lumMod val="75000"/>
                    <a:lumOff val="25000"/>
                  </a:schemeClr>
                </a:solidFill>
                <a:latin typeface="Bahnschrift SemiBold Condensed" panose="020B0502040204020203" pitchFamily="34" charset="0"/>
              </a:rPr>
              <a:t>Effective Resolution Rate as opposed to </a:t>
            </a:r>
          </a:p>
          <a:p>
            <a:pPr algn="r"/>
            <a:r>
              <a:rPr lang="en-IN" sz="2800" b="1" dirty="0">
                <a:solidFill>
                  <a:schemeClr val="bg1">
                    <a:lumMod val="50000"/>
                  </a:schemeClr>
                </a:solidFill>
                <a:latin typeface="Bahnschrift SemiBold Condensed" panose="020B0502040204020203" pitchFamily="34" charset="0"/>
              </a:rPr>
              <a:t>6.6%</a:t>
            </a:r>
            <a:r>
              <a:rPr lang="en-IN" sz="2800" b="1" dirty="0">
                <a:solidFill>
                  <a:srgbClr val="FF0000"/>
                </a:solidFill>
                <a:latin typeface="Bahnschrift SemiBold Condensed" panose="020B0502040204020203" pitchFamily="34" charset="0"/>
              </a:rPr>
              <a:t> </a:t>
            </a:r>
            <a:r>
              <a:rPr lang="en-IN" sz="2800" b="1" dirty="0">
                <a:solidFill>
                  <a:schemeClr val="tx1">
                    <a:lumMod val="75000"/>
                    <a:lumOff val="25000"/>
                  </a:schemeClr>
                </a:solidFill>
                <a:latin typeface="Bahnschrift SemiBold Condensed" panose="020B0502040204020203" pitchFamily="34" charset="0"/>
              </a:rPr>
              <a:t>Resolution Rate</a:t>
            </a:r>
            <a:endParaRPr lang="en-IN" sz="1600" dirty="0">
              <a:solidFill>
                <a:schemeClr val="tx1">
                  <a:lumMod val="75000"/>
                  <a:lumOff val="25000"/>
                </a:schemeClr>
              </a:solidFill>
              <a:latin typeface="Bahnschrift SemiBold Condensed" panose="020B0502040204020203" pitchFamily="34" charset="0"/>
            </a:endParaRPr>
          </a:p>
        </p:txBody>
      </p:sp>
      <p:sp>
        <p:nvSpPr>
          <p:cNvPr id="4" name="TextBox 3">
            <a:extLst>
              <a:ext uri="{FF2B5EF4-FFF2-40B4-BE49-F238E27FC236}">
                <a16:creationId xmlns:a16="http://schemas.microsoft.com/office/drawing/2014/main" id="{05FBFDF0-01A5-F580-6D1D-3D85D7E504FB}"/>
              </a:ext>
            </a:extLst>
          </p:cNvPr>
          <p:cNvSpPr txBox="1"/>
          <p:nvPr/>
        </p:nvSpPr>
        <p:spPr>
          <a:xfrm>
            <a:off x="589483" y="5338357"/>
            <a:ext cx="3496742" cy="954107"/>
          </a:xfrm>
          <a:prstGeom prst="rect">
            <a:avLst/>
          </a:prstGeom>
          <a:noFill/>
        </p:spPr>
        <p:txBody>
          <a:bodyPr wrap="square" rtlCol="0">
            <a:spAutoFit/>
          </a:bodyPr>
          <a:lstStyle/>
          <a:p>
            <a:pPr algn="just"/>
            <a:r>
              <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Before proposing any intervention the dataset requires a complaint age at cutoff to differentiate genuine processing delays.</a:t>
            </a:r>
          </a:p>
        </p:txBody>
      </p:sp>
      <p:sp>
        <p:nvSpPr>
          <p:cNvPr id="7" name="TextBox 6">
            <a:extLst>
              <a:ext uri="{FF2B5EF4-FFF2-40B4-BE49-F238E27FC236}">
                <a16:creationId xmlns:a16="http://schemas.microsoft.com/office/drawing/2014/main" id="{1784B61D-CB81-9932-CBFD-4D20F0D5A397}"/>
              </a:ext>
            </a:extLst>
          </p:cNvPr>
          <p:cNvSpPr txBox="1"/>
          <p:nvPr/>
        </p:nvSpPr>
        <p:spPr>
          <a:xfrm>
            <a:off x="6096000" y="5815410"/>
            <a:ext cx="957834" cy="261610"/>
          </a:xfrm>
          <a:prstGeom prst="rect">
            <a:avLst/>
          </a:prstGeom>
          <a:noFill/>
        </p:spPr>
        <p:txBody>
          <a:bodyPr wrap="square">
            <a:spAutoFit/>
          </a:bodyPr>
          <a:lstStyle/>
          <a:p>
            <a:r>
              <a:rPr lang="en-IN" sz="1100" dirty="0">
                <a:solidFill>
                  <a:schemeClr val="bg1">
                    <a:lumMod val="65000"/>
                  </a:schemeClr>
                </a:solidFill>
                <a:latin typeface="Bahnschrift Light" panose="020B0502040204020203" pitchFamily="34" charset="0"/>
              </a:rPr>
              <a:t>[8/24 = 0.33] </a:t>
            </a:r>
          </a:p>
        </p:txBody>
      </p:sp>
      <p:sp>
        <p:nvSpPr>
          <p:cNvPr id="8" name="TextBox 7">
            <a:extLst>
              <a:ext uri="{FF2B5EF4-FFF2-40B4-BE49-F238E27FC236}">
                <a16:creationId xmlns:a16="http://schemas.microsoft.com/office/drawing/2014/main" id="{815A5546-50B2-5E89-35EB-C4EA16BA2768}"/>
              </a:ext>
            </a:extLst>
          </p:cNvPr>
          <p:cNvSpPr txBox="1"/>
          <p:nvPr/>
        </p:nvSpPr>
        <p:spPr>
          <a:xfrm>
            <a:off x="8790432" y="6295078"/>
            <a:ext cx="1057656" cy="270313"/>
          </a:xfrm>
          <a:prstGeom prst="rect">
            <a:avLst/>
          </a:prstGeom>
          <a:noFill/>
        </p:spPr>
        <p:txBody>
          <a:bodyPr wrap="square">
            <a:spAutoFit/>
          </a:bodyPr>
          <a:lstStyle/>
          <a:p>
            <a:r>
              <a:rPr lang="en-IN" sz="1100" dirty="0">
                <a:solidFill>
                  <a:schemeClr val="bg1">
                    <a:lumMod val="65000"/>
                  </a:schemeClr>
                </a:solidFill>
                <a:latin typeface="Bahnschrift Light" panose="020B0502040204020203" pitchFamily="34" charset="0"/>
              </a:rPr>
              <a:t>[8/121 = 0.066] </a:t>
            </a:r>
          </a:p>
        </p:txBody>
      </p:sp>
    </p:spTree>
    <p:extLst>
      <p:ext uri="{BB962C8B-B14F-4D97-AF65-F5344CB8AC3E}">
        <p14:creationId xmlns:p14="http://schemas.microsoft.com/office/powerpoint/2010/main" val="247251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72DABC4-B32B-CCB6-6BBB-4AA14755C415}"/>
              </a:ext>
            </a:extLst>
          </p:cNvPr>
          <p:cNvSpPr txBox="1"/>
          <p:nvPr/>
        </p:nvSpPr>
        <p:spPr>
          <a:xfrm>
            <a:off x="4052250" y="245009"/>
            <a:ext cx="4087495" cy="769441"/>
          </a:xfrm>
          <a:prstGeom prst="rect">
            <a:avLst/>
          </a:prstGeom>
          <a:noFill/>
        </p:spPr>
        <p:txBody>
          <a:bodyPr wrap="square" rtlCol="0">
            <a:spAutoFit/>
          </a:bodyPr>
          <a:lstStyle/>
          <a:p>
            <a:r>
              <a:rPr lang="en-IN" sz="4400" b="1" dirty="0">
                <a:solidFill>
                  <a:srgbClr val="FF8800"/>
                </a:solidFill>
                <a:latin typeface="Bahnschrift SemiBold Condensed" panose="020B0502040204020203" pitchFamily="34" charset="0"/>
              </a:rPr>
              <a:t>Seasonal</a:t>
            </a:r>
            <a:r>
              <a:rPr lang="en-IN" sz="4400" b="1" dirty="0">
                <a:solidFill>
                  <a:schemeClr val="tx1">
                    <a:lumMod val="65000"/>
                    <a:lumOff val="35000"/>
                  </a:schemeClr>
                </a:solidFill>
                <a:latin typeface="Bahnschrift SemiBold Condensed" panose="020B0502040204020203" pitchFamily="34" charset="0"/>
              </a:rPr>
              <a:t> Behaviours </a:t>
            </a:r>
            <a:endParaRPr lang="en-IN" sz="4400" dirty="0">
              <a:solidFill>
                <a:schemeClr val="tx1">
                  <a:lumMod val="65000"/>
                  <a:lumOff val="35000"/>
                </a:schemeClr>
              </a:solidFill>
              <a:latin typeface="Bahnschrift SemiBold Condensed" panose="020B0502040204020203" pitchFamily="34" charset="0"/>
            </a:endParaRPr>
          </a:p>
        </p:txBody>
      </p:sp>
      <p:sp>
        <p:nvSpPr>
          <p:cNvPr id="20" name="TextBox 19">
            <a:extLst>
              <a:ext uri="{FF2B5EF4-FFF2-40B4-BE49-F238E27FC236}">
                <a16:creationId xmlns:a16="http://schemas.microsoft.com/office/drawing/2014/main" id="{D5718D2A-03E9-859F-4B4A-BDF34CD07496}"/>
              </a:ext>
            </a:extLst>
          </p:cNvPr>
          <p:cNvSpPr txBox="1"/>
          <p:nvPr/>
        </p:nvSpPr>
        <p:spPr>
          <a:xfrm>
            <a:off x="8063913" y="1320406"/>
            <a:ext cx="3727574" cy="1815882"/>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Street lighting shows a clear monsoon season pattern, peaking in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September</a:t>
            </a:r>
            <a:r>
              <a:rPr lang="en-US" sz="1400" i="1"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and falling to its lowest point in the post monsoon month of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April</a:t>
            </a:r>
            <a:r>
              <a:rPr lang="en-US" sz="1400" i="1"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while maintaining an 82% effective resolution rate and a 0% ignorance rate year-round, suggesting consistent handling regardless of seasonal demand</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26" name="TextBox 25">
            <a:extLst>
              <a:ext uri="{FF2B5EF4-FFF2-40B4-BE49-F238E27FC236}">
                <a16:creationId xmlns:a16="http://schemas.microsoft.com/office/drawing/2014/main" id="{8D29E6C9-8C39-5564-E251-3EE0B7C7DE5F}"/>
              </a:ext>
            </a:extLst>
          </p:cNvPr>
          <p:cNvSpPr txBox="1"/>
          <p:nvPr/>
        </p:nvSpPr>
        <p:spPr>
          <a:xfrm>
            <a:off x="8063913" y="3268146"/>
            <a:ext cx="3727574" cy="1384995"/>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Water Supply and Services shows a separate seasonal pattern, peaking in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March</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and </a:t>
            </a:r>
            <a:r>
              <a:rPr lang="en-US" sz="1400" i="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February</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consistent with Bangalore's pre monsoon period when groundwater levels decline and demand rises with rising temperatures.</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27" name="TextBox 26">
            <a:extLst>
              <a:ext uri="{FF2B5EF4-FFF2-40B4-BE49-F238E27FC236}">
                <a16:creationId xmlns:a16="http://schemas.microsoft.com/office/drawing/2014/main" id="{F9A2AA2D-75BE-D19A-538E-7666EA1AEFA7}"/>
              </a:ext>
            </a:extLst>
          </p:cNvPr>
          <p:cNvSpPr txBox="1"/>
          <p:nvPr/>
        </p:nvSpPr>
        <p:spPr>
          <a:xfrm>
            <a:off x="2593600" y="6214666"/>
            <a:ext cx="7004797" cy="261610"/>
          </a:xfrm>
          <a:prstGeom prst="rect">
            <a:avLst/>
          </a:prstGeom>
          <a:noFill/>
        </p:spPr>
        <p:txBody>
          <a:bodyPr wrap="square" rtlCol="0">
            <a:spAutoFit/>
          </a:bodyPr>
          <a:lstStyle/>
          <a:p>
            <a:r>
              <a:rPr lang="en-US" sz="1100" i="1" dirty="0">
                <a:solidFill>
                  <a:schemeClr val="tx1">
                    <a:lumMod val="50000"/>
                    <a:lumOff val="50000"/>
                  </a:schemeClr>
                </a:solidFill>
                <a:latin typeface="Bahnschrift Light" panose="020B0502040204020203" pitchFamily="34" charset="0"/>
              </a:rPr>
              <a:t>Note : Additional non-seasonal categories (e.g., Storm Water Drains) checked and detailed in the full report.</a:t>
            </a:r>
            <a:endParaRPr lang="en-IN" sz="1100" i="1" dirty="0">
              <a:solidFill>
                <a:schemeClr val="tx1">
                  <a:lumMod val="50000"/>
                  <a:lumOff val="50000"/>
                </a:schemeClr>
              </a:solidFill>
              <a:latin typeface="Bahnschrift Light" panose="020B0502040204020203" pitchFamily="34" charset="0"/>
            </a:endParaRPr>
          </a:p>
        </p:txBody>
      </p:sp>
      <p:sp>
        <p:nvSpPr>
          <p:cNvPr id="28" name="TextBox 27">
            <a:extLst>
              <a:ext uri="{FF2B5EF4-FFF2-40B4-BE49-F238E27FC236}">
                <a16:creationId xmlns:a16="http://schemas.microsoft.com/office/drawing/2014/main" id="{7DF5D002-E76C-8DE8-C2F4-F972DB98CF81}"/>
              </a:ext>
            </a:extLst>
          </p:cNvPr>
          <p:cNvSpPr txBox="1"/>
          <p:nvPr/>
        </p:nvSpPr>
        <p:spPr>
          <a:xfrm>
            <a:off x="8063913" y="4784999"/>
            <a:ext cx="3727574" cy="954107"/>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Electricity (November) and Sewerage Systems (March) also show spikes with no identifiable seasonal or external cause, flagged for further investigation.</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graphicFrame>
        <p:nvGraphicFramePr>
          <p:cNvPr id="4" name="Chart 3">
            <a:extLst>
              <a:ext uri="{FF2B5EF4-FFF2-40B4-BE49-F238E27FC236}">
                <a16:creationId xmlns:a16="http://schemas.microsoft.com/office/drawing/2014/main" id="{C61A2D66-AB9C-964D-4A6D-4BC092470C5D}"/>
              </a:ext>
            </a:extLst>
          </p:cNvPr>
          <p:cNvGraphicFramePr>
            <a:graphicFrameLocks/>
          </p:cNvGraphicFramePr>
          <p:nvPr>
            <p:extLst>
              <p:ext uri="{D42A27DB-BD31-4B8C-83A1-F6EECF244321}">
                <p14:modId xmlns:p14="http://schemas.microsoft.com/office/powerpoint/2010/main" val="3713785889"/>
              </p:ext>
            </p:extLst>
          </p:nvPr>
        </p:nvGraphicFramePr>
        <p:xfrm>
          <a:off x="802321" y="1362876"/>
          <a:ext cx="6879005" cy="439784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1713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0B0927-79D0-6851-4195-11A3505C473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9256" y="1998285"/>
            <a:ext cx="5982218" cy="3823314"/>
          </a:xfrm>
          <a:prstGeom prst="rect">
            <a:avLst/>
          </a:prstGeom>
        </p:spPr>
      </p:pic>
      <p:sp>
        <p:nvSpPr>
          <p:cNvPr id="4" name="TextBox 3">
            <a:extLst>
              <a:ext uri="{FF2B5EF4-FFF2-40B4-BE49-F238E27FC236}">
                <a16:creationId xmlns:a16="http://schemas.microsoft.com/office/drawing/2014/main" id="{7A47C85A-C1AA-84FB-751C-AA02C12DD15A}"/>
              </a:ext>
            </a:extLst>
          </p:cNvPr>
          <p:cNvSpPr txBox="1"/>
          <p:nvPr/>
        </p:nvSpPr>
        <p:spPr>
          <a:xfrm>
            <a:off x="4052251" y="381724"/>
            <a:ext cx="4306557" cy="769441"/>
          </a:xfrm>
          <a:prstGeom prst="rect">
            <a:avLst/>
          </a:prstGeom>
          <a:noFill/>
        </p:spPr>
        <p:txBody>
          <a:bodyPr wrap="square" rtlCol="0">
            <a:spAutoFit/>
          </a:bodyPr>
          <a:lstStyle/>
          <a:p>
            <a:r>
              <a:rPr lang="en-IN" sz="4400" b="1" dirty="0">
                <a:solidFill>
                  <a:srgbClr val="FF8800"/>
                </a:solidFill>
                <a:latin typeface="Bahnschrift SemiBold Condensed" panose="020B0502040204020203" pitchFamily="34" charset="0"/>
              </a:rPr>
              <a:t>Agency</a:t>
            </a:r>
            <a:r>
              <a:rPr lang="en-IN" sz="4400" b="1" dirty="0">
                <a:solidFill>
                  <a:schemeClr val="tx1">
                    <a:lumMod val="65000"/>
                    <a:lumOff val="35000"/>
                  </a:schemeClr>
                </a:solidFill>
                <a:latin typeface="Bahnschrift SemiBold Condensed" panose="020B0502040204020203" pitchFamily="34" charset="0"/>
              </a:rPr>
              <a:t> Accountability</a:t>
            </a:r>
            <a:endParaRPr lang="en-IN" sz="4400" dirty="0">
              <a:solidFill>
                <a:schemeClr val="tx1">
                  <a:lumMod val="65000"/>
                  <a:lumOff val="35000"/>
                </a:schemeClr>
              </a:solidFill>
              <a:latin typeface="Bahnschrift SemiBold Condensed" panose="020B0502040204020203" pitchFamily="34" charset="0"/>
            </a:endParaRPr>
          </a:p>
        </p:txBody>
      </p:sp>
      <p:sp>
        <p:nvSpPr>
          <p:cNvPr id="5" name="TextBox 4">
            <a:extLst>
              <a:ext uri="{FF2B5EF4-FFF2-40B4-BE49-F238E27FC236}">
                <a16:creationId xmlns:a16="http://schemas.microsoft.com/office/drawing/2014/main" id="{1C223E86-A4EF-2EBE-D00F-110D4171FD07}"/>
              </a:ext>
            </a:extLst>
          </p:cNvPr>
          <p:cNvSpPr txBox="1"/>
          <p:nvPr/>
        </p:nvSpPr>
        <p:spPr>
          <a:xfrm>
            <a:off x="4847382" y="1101470"/>
            <a:ext cx="2716296" cy="523220"/>
          </a:xfrm>
          <a:prstGeom prst="rect">
            <a:avLst/>
          </a:prstGeom>
          <a:noFill/>
        </p:spPr>
        <p:txBody>
          <a:bodyPr wrap="square" rtlCol="0">
            <a:spAutoFit/>
          </a:bodyPr>
          <a:lstStyle/>
          <a:p>
            <a:r>
              <a:rPr lang="en-IN" sz="2800" dirty="0">
                <a:solidFill>
                  <a:schemeClr val="bg1">
                    <a:lumMod val="65000"/>
                  </a:schemeClr>
                </a:solidFill>
                <a:latin typeface="Bahnschrift SemiBold Condensed" panose="020B0502040204020203" pitchFamily="34" charset="0"/>
              </a:rPr>
              <a:t>Scale vs Competence</a:t>
            </a:r>
          </a:p>
        </p:txBody>
      </p:sp>
      <p:sp>
        <p:nvSpPr>
          <p:cNvPr id="6" name="TextBox 5">
            <a:extLst>
              <a:ext uri="{FF2B5EF4-FFF2-40B4-BE49-F238E27FC236}">
                <a16:creationId xmlns:a16="http://schemas.microsoft.com/office/drawing/2014/main" id="{6E48822A-8490-997B-091E-E0F1BD06C357}"/>
              </a:ext>
            </a:extLst>
          </p:cNvPr>
          <p:cNvSpPr txBox="1"/>
          <p:nvPr/>
        </p:nvSpPr>
        <p:spPr>
          <a:xfrm>
            <a:off x="7175650" y="1998285"/>
            <a:ext cx="4691671" cy="1169551"/>
          </a:xfrm>
          <a:prstGeom prst="rect">
            <a:avLst/>
          </a:prstGeom>
          <a:noFill/>
        </p:spPr>
        <p:txBody>
          <a:bodyPr wrap="square" rtlCol="0">
            <a:spAutoFit/>
          </a:bodyPr>
          <a:lstStyle/>
          <a:p>
            <a:r>
              <a:rPr lang="en-US" sz="1400" dirty="0">
                <a:solidFill>
                  <a:schemeClr val="tx1">
                    <a:lumMod val="95000"/>
                    <a:lumOff val="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BBMP</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recorded an acceptance rate of 50%, a resolution rate of 35% and an effective resolution rate of 70%, while </a:t>
            </a:r>
            <a:r>
              <a:rPr lang="en-US" sz="1400" dirty="0">
                <a:solidFill>
                  <a:schemeClr val="tx1">
                    <a:lumMod val="95000"/>
                    <a:lumOff val="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BTC</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recorded a resolution rate of 19%, an effective resolution rate of 36% and a higher ignorance rate of 34%.</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71883960-A706-6776-EFA3-5C577F745BA0}"/>
              </a:ext>
            </a:extLst>
          </p:cNvPr>
          <p:cNvSpPr txBox="1"/>
          <p:nvPr/>
        </p:nvSpPr>
        <p:spPr>
          <a:xfrm>
            <a:off x="7175648" y="3268812"/>
            <a:ext cx="4902052" cy="2031325"/>
          </a:xfrm>
          <a:prstGeom prst="rect">
            <a:avLst/>
          </a:prstGeom>
          <a:noFill/>
        </p:spPr>
        <p:txBody>
          <a:bodyPr wrap="square" rtlCol="0">
            <a:spAutoFit/>
          </a:bodyPr>
          <a:lstStyle/>
          <a:p>
            <a:r>
              <a:rPr lang="en-US" sz="1400" dirty="0">
                <a:latin typeface="Bahnschrift Light" panose="020B0502040204020203" pitchFamily="34" charset="0"/>
                <a:ea typeface="Microsoft Sans Serif" panose="020B0604020202020204" pitchFamily="34" charset="0"/>
                <a:cs typeface="Microsoft Sans Serif" panose="020B0604020202020204" pitchFamily="34" charset="0"/>
              </a:rPr>
              <a:t>BBMP </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covers over </a:t>
            </a:r>
            <a:r>
              <a:rPr lang="en-US" sz="1400" dirty="0">
                <a:latin typeface="Bahnschrift Light" panose="020B0502040204020203" pitchFamily="34" charset="0"/>
                <a:ea typeface="Microsoft Sans Serif" panose="020B0604020202020204" pitchFamily="34" charset="0"/>
                <a:cs typeface="Microsoft Sans Serif" panose="020B0604020202020204" pitchFamily="34" charset="0"/>
              </a:rPr>
              <a:t>13000 complaints </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and its </a:t>
            </a:r>
            <a:r>
              <a:rPr lang="en-US" sz="1400" dirty="0">
                <a:solidFill>
                  <a:schemeClr val="bg1">
                    <a:lumMod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dominance is expected. As the primary municipal body, it handles the widest range of complaint categories and the highest complaint volume, yet maintains a 70% effective resolution rate. In contrast, </a:t>
            </a:r>
            <a:r>
              <a:rPr lang="en-US" sz="1400" dirty="0">
                <a:latin typeface="Bahnschrift Light" panose="020B0502040204020203" pitchFamily="34" charset="0"/>
                <a:ea typeface="Microsoft Sans Serif" panose="020B0604020202020204" pitchFamily="34" charset="0"/>
                <a:cs typeface="Microsoft Sans Serif" panose="020B0604020202020204" pitchFamily="34" charset="0"/>
              </a:rPr>
              <a:t>BTC </a:t>
            </a:r>
            <a:r>
              <a:rPr lang="en-US" sz="1400" dirty="0">
                <a:solidFill>
                  <a:schemeClr val="bg2">
                    <a:lumMod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has a </a:t>
            </a:r>
            <a:r>
              <a:rPr lang="en-US" sz="1400" dirty="0">
                <a:solidFill>
                  <a:schemeClr val="bg1">
                    <a:lumMod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36% effective resolution. But it is primarily driven by parking-related sub categories whose evidence-verification requirements and time-sensitive nature may plausibly contribute to the observed contrast</a:t>
            </a:r>
          </a:p>
        </p:txBody>
      </p:sp>
      <p:sp>
        <p:nvSpPr>
          <p:cNvPr id="8" name="TextBox 7">
            <a:extLst>
              <a:ext uri="{FF2B5EF4-FFF2-40B4-BE49-F238E27FC236}">
                <a16:creationId xmlns:a16="http://schemas.microsoft.com/office/drawing/2014/main" id="{2D4E0B04-F2D2-5854-8A1D-625001B4E6E0}"/>
              </a:ext>
            </a:extLst>
          </p:cNvPr>
          <p:cNvSpPr txBox="1"/>
          <p:nvPr/>
        </p:nvSpPr>
        <p:spPr>
          <a:xfrm>
            <a:off x="7175648" y="5370551"/>
            <a:ext cx="4691671" cy="553998"/>
          </a:xfrm>
          <a:prstGeom prst="rect">
            <a:avLst/>
          </a:prstGeom>
          <a:noFill/>
        </p:spPr>
        <p:txBody>
          <a:bodyPr wrap="square" rtlCol="0">
            <a:spAutoFit/>
          </a:bodyPr>
          <a:lstStyle/>
          <a:p>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Other than the agencies above, every other agency left over </a:t>
            </a:r>
            <a:r>
              <a:rPr lang="en-US" sz="1600" b="1"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90%</a:t>
            </a:r>
            <a:r>
              <a:rPr lang="en-US"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of assigned complaints unacknowledged.</a:t>
            </a:r>
            <a:endParaRPr lang="en-IN" sz="1400" dirty="0">
              <a:solidFill>
                <a:schemeClr val="tx1">
                  <a:lumMod val="50000"/>
                  <a:lumOff val="50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9" name="TextBox 8">
            <a:extLst>
              <a:ext uri="{FF2B5EF4-FFF2-40B4-BE49-F238E27FC236}">
                <a16:creationId xmlns:a16="http://schemas.microsoft.com/office/drawing/2014/main" id="{A77B4553-B845-64B6-0414-13504461D74C}"/>
              </a:ext>
            </a:extLst>
          </p:cNvPr>
          <p:cNvSpPr txBox="1"/>
          <p:nvPr/>
        </p:nvSpPr>
        <p:spPr>
          <a:xfrm>
            <a:off x="2812461" y="6214666"/>
            <a:ext cx="6786136" cy="261610"/>
          </a:xfrm>
          <a:prstGeom prst="rect">
            <a:avLst/>
          </a:prstGeom>
          <a:noFill/>
        </p:spPr>
        <p:txBody>
          <a:bodyPr wrap="square" rtlCol="0">
            <a:spAutoFit/>
          </a:bodyPr>
          <a:lstStyle/>
          <a:p>
            <a:r>
              <a:rPr lang="en-IN" sz="1100" i="1" dirty="0">
                <a:solidFill>
                  <a:schemeClr val="tx1">
                    <a:lumMod val="50000"/>
                    <a:lumOff val="50000"/>
                  </a:schemeClr>
                </a:solidFill>
                <a:latin typeface="Bahnschrift Light" panose="020B0502040204020203" pitchFamily="34" charset="0"/>
              </a:rPr>
              <a:t>Note: Only Agencies with more than 100 complaints registered are considered to avoid small sample bias.</a:t>
            </a:r>
          </a:p>
        </p:txBody>
      </p:sp>
    </p:spTree>
    <p:extLst>
      <p:ext uri="{BB962C8B-B14F-4D97-AF65-F5344CB8AC3E}">
        <p14:creationId xmlns:p14="http://schemas.microsoft.com/office/powerpoint/2010/main" val="1350150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FAFE9E56-29E2-61D1-6142-300017827785}"/>
              </a:ext>
            </a:extLst>
          </p:cNvPr>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a:off x="-3" y="5325842"/>
            <a:ext cx="6096000" cy="1560443"/>
          </a:xfrm>
          <a:prstGeom prst="rect">
            <a:avLst/>
          </a:prstGeom>
        </p:spPr>
      </p:pic>
      <p:pic>
        <p:nvPicPr>
          <p:cNvPr id="33" name="Picture 32">
            <a:extLst>
              <a:ext uri="{FF2B5EF4-FFF2-40B4-BE49-F238E27FC236}">
                <a16:creationId xmlns:a16="http://schemas.microsoft.com/office/drawing/2014/main" id="{0FB2E8EE-E466-E69B-3CB3-F4C6720860E8}"/>
              </a:ext>
            </a:extLst>
          </p:cNvPr>
          <p:cNvPicPr/>
          <p:nvPr/>
        </p:nvPicPr>
        <p:blipFill>
          <a:blip r:embed="rId2">
            <a:alphaModFix amt="17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pic>
        <p:nvPicPr>
          <p:cNvPr id="34" name="Picture 33">
            <a:extLst>
              <a:ext uri="{FF2B5EF4-FFF2-40B4-BE49-F238E27FC236}">
                <a16:creationId xmlns:a16="http://schemas.microsoft.com/office/drawing/2014/main" id="{2D8DF392-080E-63E9-D0EA-C1A9574E00D0}"/>
              </a:ext>
            </a:extLst>
          </p:cNvPr>
          <p:cNvPicPr/>
          <p:nvPr/>
        </p:nvPicPr>
        <p:blipFill>
          <a:blip r:embed="rId2">
            <a:alphaModFix amt="17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sp>
        <p:nvSpPr>
          <p:cNvPr id="17" name="Rectangle: Rounded Corners 16">
            <a:extLst>
              <a:ext uri="{FF2B5EF4-FFF2-40B4-BE49-F238E27FC236}">
                <a16:creationId xmlns:a16="http://schemas.microsoft.com/office/drawing/2014/main" id="{5AB65EB0-C9D3-A7AF-AE55-BD737C314337}"/>
              </a:ext>
            </a:extLst>
          </p:cNvPr>
          <p:cNvSpPr/>
          <p:nvPr/>
        </p:nvSpPr>
        <p:spPr>
          <a:xfrm>
            <a:off x="2595809" y="3260206"/>
            <a:ext cx="7252279" cy="1172817"/>
          </a:xfrm>
          <a:prstGeom prst="roundRect">
            <a:avLst>
              <a:gd name="adj" fmla="val 13349"/>
            </a:avLst>
          </a:prstGeom>
          <a:solidFill>
            <a:srgbClr val="FDF3ED"/>
          </a:solidFill>
          <a:ln w="1270">
            <a:gradFill flip="none" rotWithShape="1">
              <a:gsLst>
                <a:gs pos="25000">
                  <a:srgbClr val="FDF3ED">
                    <a:alpha val="51000"/>
                  </a:srgbClr>
                </a:gs>
                <a:gs pos="100000">
                  <a:schemeClr val="accent2">
                    <a:alpha val="4600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0AF9A70E-87A8-3B09-E9E1-6B0D80FEF2E4}"/>
              </a:ext>
            </a:extLst>
          </p:cNvPr>
          <p:cNvSpPr/>
          <p:nvPr/>
        </p:nvSpPr>
        <p:spPr>
          <a:xfrm>
            <a:off x="3618690" y="1520978"/>
            <a:ext cx="5887260" cy="1172817"/>
          </a:xfrm>
          <a:prstGeom prst="roundRect">
            <a:avLst>
              <a:gd name="adj" fmla="val 13349"/>
            </a:avLst>
          </a:prstGeom>
          <a:solidFill>
            <a:srgbClr val="FDF3ED"/>
          </a:solidFill>
          <a:ln w="1270">
            <a:gradFill flip="none" rotWithShape="1">
              <a:gsLst>
                <a:gs pos="25000">
                  <a:srgbClr val="FDF3ED">
                    <a:alpha val="51000"/>
                  </a:srgbClr>
                </a:gs>
                <a:gs pos="100000">
                  <a:schemeClr val="accent2">
                    <a:alpha val="46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6A51B7C5-6D4F-6455-C782-070CEEA82D4E}"/>
              </a:ext>
            </a:extLst>
          </p:cNvPr>
          <p:cNvSpPr/>
          <p:nvPr/>
        </p:nvSpPr>
        <p:spPr>
          <a:xfrm>
            <a:off x="3618690" y="4978061"/>
            <a:ext cx="5887260" cy="1172817"/>
          </a:xfrm>
          <a:prstGeom prst="roundRect">
            <a:avLst>
              <a:gd name="adj" fmla="val 13349"/>
            </a:avLst>
          </a:prstGeom>
          <a:solidFill>
            <a:srgbClr val="FDF3ED"/>
          </a:solidFill>
          <a:ln w="1270">
            <a:gradFill flip="none" rotWithShape="1">
              <a:gsLst>
                <a:gs pos="25000">
                  <a:srgbClr val="FDF3ED">
                    <a:alpha val="51000"/>
                  </a:srgbClr>
                </a:gs>
                <a:gs pos="100000">
                  <a:schemeClr val="accent2">
                    <a:alpha val="46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6CADBB-7019-5852-325A-C7B9D8536B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4998" y="2862156"/>
            <a:ext cx="2576819" cy="2062124"/>
          </a:xfrm>
          <a:prstGeom prst="rect">
            <a:avLst/>
          </a:prstGeom>
        </p:spPr>
      </p:pic>
      <p:sp>
        <p:nvSpPr>
          <p:cNvPr id="6" name="TextBox 5">
            <a:extLst>
              <a:ext uri="{FF2B5EF4-FFF2-40B4-BE49-F238E27FC236}">
                <a16:creationId xmlns:a16="http://schemas.microsoft.com/office/drawing/2014/main" id="{3E61D8EE-B180-DA28-7BC0-CC3792611CB8}"/>
              </a:ext>
            </a:extLst>
          </p:cNvPr>
          <p:cNvSpPr txBox="1"/>
          <p:nvPr/>
        </p:nvSpPr>
        <p:spPr>
          <a:xfrm>
            <a:off x="354997" y="216013"/>
            <a:ext cx="6574959" cy="1015663"/>
          </a:xfrm>
          <a:prstGeom prst="rect">
            <a:avLst/>
          </a:prstGeom>
          <a:noFill/>
        </p:spPr>
        <p:txBody>
          <a:bodyPr wrap="square" rtlCol="0">
            <a:spAutoFit/>
          </a:bodyPr>
          <a:lstStyle/>
          <a:p>
            <a:pPr>
              <a:spcBef>
                <a:spcPts val="50"/>
              </a:spcBef>
              <a:spcAft>
                <a:spcPts val="50"/>
              </a:spcAft>
            </a:pPr>
            <a:r>
              <a:rPr lang="en-IN" sz="6000" b="1" dirty="0">
                <a:solidFill>
                  <a:schemeClr val="tx1">
                    <a:lumMod val="75000"/>
                    <a:lumOff val="25000"/>
                  </a:schemeClr>
                </a:solidFill>
                <a:latin typeface="Bahnschrift SemiBold Condensed" panose="020B0502040204020203" pitchFamily="34" charset="0"/>
              </a:rPr>
              <a:t>Does your </a:t>
            </a:r>
            <a:r>
              <a:rPr lang="en-IN" sz="6000" b="1" dirty="0">
                <a:solidFill>
                  <a:schemeClr val="accent2"/>
                </a:solidFill>
                <a:latin typeface="Bahnschrift SemiBold Condensed" panose="020B0502040204020203" pitchFamily="34" charset="0"/>
              </a:rPr>
              <a:t>ward</a:t>
            </a:r>
            <a:r>
              <a:rPr lang="en-IN" sz="6000" b="1" dirty="0">
                <a:solidFill>
                  <a:schemeClr val="tx1">
                    <a:lumMod val="65000"/>
                    <a:lumOff val="35000"/>
                  </a:schemeClr>
                </a:solidFill>
                <a:latin typeface="Bahnschrift SemiBold Condensed" panose="020B0502040204020203" pitchFamily="34" charset="0"/>
              </a:rPr>
              <a:t> </a:t>
            </a:r>
            <a:r>
              <a:rPr lang="en-IN" sz="6000" b="1" dirty="0">
                <a:solidFill>
                  <a:schemeClr val="tx1">
                    <a:lumMod val="75000"/>
                    <a:lumOff val="25000"/>
                  </a:schemeClr>
                </a:solidFill>
                <a:latin typeface="Bahnschrift SemiBold Condensed" panose="020B0502040204020203" pitchFamily="34" charset="0"/>
              </a:rPr>
              <a:t>matter?</a:t>
            </a:r>
            <a:endParaRPr lang="en-IN" sz="6000" dirty="0">
              <a:solidFill>
                <a:schemeClr val="tx1">
                  <a:lumMod val="75000"/>
                  <a:lumOff val="25000"/>
                </a:schemeClr>
              </a:solidFill>
              <a:latin typeface="Bahnschrift SemiBold Condensed" panose="020B0502040204020203" pitchFamily="34" charset="0"/>
            </a:endParaRPr>
          </a:p>
        </p:txBody>
      </p:sp>
      <p:pic>
        <p:nvPicPr>
          <p:cNvPr id="7" name="Picture 6">
            <a:extLst>
              <a:ext uri="{FF2B5EF4-FFF2-40B4-BE49-F238E27FC236}">
                <a16:creationId xmlns:a16="http://schemas.microsoft.com/office/drawing/2014/main" id="{C3488C3D-5FB8-0AAF-54CC-3CCA719E310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147954" y="1117468"/>
            <a:ext cx="2575993" cy="2062800"/>
          </a:xfrm>
          <a:prstGeom prst="rect">
            <a:avLst/>
          </a:prstGeom>
        </p:spPr>
      </p:pic>
      <p:pic>
        <p:nvPicPr>
          <p:cNvPr id="8" name="Picture 7">
            <a:extLst>
              <a:ext uri="{FF2B5EF4-FFF2-40B4-BE49-F238E27FC236}">
                <a16:creationId xmlns:a16="http://schemas.microsoft.com/office/drawing/2014/main" id="{563E81BF-838E-E530-09F8-F1F4D4FA8BE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147954" y="4542799"/>
            <a:ext cx="2575993" cy="2062800"/>
          </a:xfrm>
          <a:prstGeom prst="rect">
            <a:avLst/>
          </a:prstGeom>
        </p:spPr>
      </p:pic>
      <p:sp>
        <p:nvSpPr>
          <p:cNvPr id="9" name="TextBox 8">
            <a:extLst>
              <a:ext uri="{FF2B5EF4-FFF2-40B4-BE49-F238E27FC236}">
                <a16:creationId xmlns:a16="http://schemas.microsoft.com/office/drawing/2014/main" id="{CD72A29D-0CC6-FAA7-24D2-33397A945FFB}"/>
              </a:ext>
            </a:extLst>
          </p:cNvPr>
          <p:cNvSpPr txBox="1">
            <a:spLocks/>
          </p:cNvSpPr>
          <p:nvPr/>
        </p:nvSpPr>
        <p:spPr>
          <a:xfrm>
            <a:off x="2931818" y="3348723"/>
            <a:ext cx="6805799" cy="954107"/>
          </a:xfrm>
          <a:prstGeom prst="rect">
            <a:avLst/>
          </a:prstGeom>
          <a:noFill/>
          <a:ln>
            <a:noFill/>
          </a:ln>
        </p:spPr>
        <p:txBody>
          <a:bodyPr wrap="square" rtlCol="0">
            <a:spAutoFit/>
          </a:bodyPr>
          <a:lstStyle/>
          <a:p>
            <a:r>
              <a:rPr lang="en-US" sz="1400" dirty="0" err="1">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Bellanduru</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with most complaints and impressive effective resolution proves scale isn’t the enemy, but process is. However, it has a relatively higher comments per complaint. As a resident you might have to follow up the complaint to get it solved and the administrators can improve solving complaints at the first instance.</a:t>
            </a:r>
          </a:p>
        </p:txBody>
      </p:sp>
      <p:sp>
        <p:nvSpPr>
          <p:cNvPr id="11" name="TextBox 10">
            <a:extLst>
              <a:ext uri="{FF2B5EF4-FFF2-40B4-BE49-F238E27FC236}">
                <a16:creationId xmlns:a16="http://schemas.microsoft.com/office/drawing/2014/main" id="{3CF8570A-B25B-A0DD-788F-9DE74A83F1F3}"/>
              </a:ext>
            </a:extLst>
          </p:cNvPr>
          <p:cNvSpPr txBox="1">
            <a:spLocks/>
          </p:cNvSpPr>
          <p:nvPr/>
        </p:nvSpPr>
        <p:spPr>
          <a:xfrm>
            <a:off x="3978734" y="1639603"/>
            <a:ext cx="5075517" cy="954107"/>
          </a:xfrm>
          <a:prstGeom prst="rect">
            <a:avLst/>
          </a:prstGeom>
          <a:noFill/>
        </p:spPr>
        <p:txBody>
          <a:bodyPr wrap="square" rtlCol="0">
            <a:spAutoFit/>
          </a:bodyPr>
          <a:lstStyle/>
          <a:p>
            <a:pPr algn="r"/>
            <a:r>
              <a:rPr lang="en-US" sz="1400" dirty="0" err="1">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Horamavu</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has a 0% ignorance rate despite having above average acceptance rate, however its other metrics are slightly below average. A resident complaint can get delayed but not ignored.</a:t>
            </a:r>
          </a:p>
        </p:txBody>
      </p:sp>
      <p:sp>
        <p:nvSpPr>
          <p:cNvPr id="29" name="TextBox 28">
            <a:extLst>
              <a:ext uri="{FF2B5EF4-FFF2-40B4-BE49-F238E27FC236}">
                <a16:creationId xmlns:a16="http://schemas.microsoft.com/office/drawing/2014/main" id="{2AC30A2D-83D4-36AB-EA64-BFD919A556B7}"/>
              </a:ext>
            </a:extLst>
          </p:cNvPr>
          <p:cNvSpPr txBox="1"/>
          <p:nvPr/>
        </p:nvSpPr>
        <p:spPr>
          <a:xfrm>
            <a:off x="354997" y="1187041"/>
            <a:ext cx="2716296" cy="400110"/>
          </a:xfrm>
          <a:prstGeom prst="rect">
            <a:avLst/>
          </a:prstGeom>
          <a:noFill/>
        </p:spPr>
        <p:txBody>
          <a:bodyPr wrap="square" rtlCol="0">
            <a:spAutoFit/>
          </a:bodyPr>
          <a:lstStyle/>
          <a:p>
            <a:r>
              <a:rPr lang="en-IN" sz="2000" dirty="0">
                <a:solidFill>
                  <a:schemeClr val="bg1">
                    <a:lumMod val="65000"/>
                  </a:schemeClr>
                </a:solidFill>
                <a:latin typeface="Bahnschrift SemiBold Condensed" panose="020B0502040204020203" pitchFamily="34" charset="0"/>
              </a:rPr>
              <a:t>Yes! more than your category</a:t>
            </a:r>
          </a:p>
        </p:txBody>
      </p:sp>
      <p:sp>
        <p:nvSpPr>
          <p:cNvPr id="30" name="TextBox 29">
            <a:extLst>
              <a:ext uri="{FF2B5EF4-FFF2-40B4-BE49-F238E27FC236}">
                <a16:creationId xmlns:a16="http://schemas.microsoft.com/office/drawing/2014/main" id="{6F4AD715-EC9C-606B-342F-2A797292AC2A}"/>
              </a:ext>
            </a:extLst>
          </p:cNvPr>
          <p:cNvSpPr txBox="1"/>
          <p:nvPr/>
        </p:nvSpPr>
        <p:spPr>
          <a:xfrm>
            <a:off x="2268115" y="6434306"/>
            <a:ext cx="6786136" cy="261610"/>
          </a:xfrm>
          <a:prstGeom prst="rect">
            <a:avLst/>
          </a:prstGeom>
          <a:noFill/>
        </p:spPr>
        <p:txBody>
          <a:bodyPr wrap="square" rtlCol="0">
            <a:spAutoFit/>
          </a:bodyPr>
          <a:lstStyle/>
          <a:p>
            <a:r>
              <a:rPr lang="en-IN" sz="1100" i="1" dirty="0">
                <a:solidFill>
                  <a:schemeClr val="tx1">
                    <a:lumMod val="50000"/>
                    <a:lumOff val="50000"/>
                  </a:schemeClr>
                </a:solidFill>
                <a:latin typeface="Bahnschrift Light" panose="020B0502040204020203" pitchFamily="34" charset="0"/>
              </a:rPr>
              <a:t>Note: Only Wards with more than 100 complaints registered are considered to avoid small sample bias.</a:t>
            </a:r>
          </a:p>
        </p:txBody>
      </p:sp>
      <p:sp>
        <p:nvSpPr>
          <p:cNvPr id="31" name="TextBox 30">
            <a:extLst>
              <a:ext uri="{FF2B5EF4-FFF2-40B4-BE49-F238E27FC236}">
                <a16:creationId xmlns:a16="http://schemas.microsoft.com/office/drawing/2014/main" id="{E8042E95-248D-F5C9-9412-F8D2A0261933}"/>
              </a:ext>
            </a:extLst>
          </p:cNvPr>
          <p:cNvSpPr txBox="1">
            <a:spLocks/>
          </p:cNvSpPr>
          <p:nvPr/>
        </p:nvSpPr>
        <p:spPr>
          <a:xfrm>
            <a:off x="3884813" y="5087415"/>
            <a:ext cx="5169438" cy="954107"/>
          </a:xfrm>
          <a:prstGeom prst="rect">
            <a:avLst/>
          </a:prstGeom>
          <a:noFill/>
        </p:spPr>
        <p:txBody>
          <a:bodyPr wrap="square" rtlCol="0">
            <a:spAutoFit/>
          </a:bodyPr>
          <a:lstStyle/>
          <a:p>
            <a:pPr algn="r"/>
            <a:r>
              <a:rPr lang="en-US" sz="1400" dirty="0" err="1">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Hagadur</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has a subpar performance across all the metrics with a below average resolution and effective resolution rates and </a:t>
            </a:r>
            <a:r>
              <a:rPr lang="en-US" sz="1400" dirty="0">
                <a:solidFill>
                  <a:schemeClr val="tx1">
                    <a:lumMod val="95000"/>
                    <a:lumOff val="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2x</a:t>
            </a:r>
            <a:r>
              <a:rPr lang="en-US" sz="1400" dirty="0">
                <a:solidFill>
                  <a:schemeClr val="tx1">
                    <a:lumMod val="65000"/>
                    <a:lumOff val="3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the median ignorance rate, warranting an assessment of the existing grievance redressal system.</a:t>
            </a:r>
          </a:p>
        </p:txBody>
      </p:sp>
    </p:spTree>
    <p:extLst>
      <p:ext uri="{BB962C8B-B14F-4D97-AF65-F5344CB8AC3E}">
        <p14:creationId xmlns:p14="http://schemas.microsoft.com/office/powerpoint/2010/main" val="1945526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1EE6A39A-3D77-4DD1-CAE2-93DEDA82B4AF}"/>
              </a:ext>
            </a:extLst>
          </p:cNvPr>
          <p:cNvSpPr/>
          <p:nvPr/>
        </p:nvSpPr>
        <p:spPr>
          <a:xfrm rot="5400000">
            <a:off x="3578788" y="2730775"/>
            <a:ext cx="5086449" cy="3168000"/>
          </a:xfrm>
          <a:prstGeom prst="roundRect">
            <a:avLst>
              <a:gd name="adj" fmla="val 5549"/>
            </a:avLst>
          </a:prstGeom>
          <a:solidFill>
            <a:schemeClr val="bg1">
              <a:lumMod val="85000"/>
              <a:alpha val="41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0F0E5A9B-5CB6-0807-B66C-007D770D381B}"/>
              </a:ext>
            </a:extLst>
          </p:cNvPr>
          <p:cNvSpPr/>
          <p:nvPr/>
        </p:nvSpPr>
        <p:spPr>
          <a:xfrm rot="5400000">
            <a:off x="7314438" y="2596551"/>
            <a:ext cx="4934047" cy="3168000"/>
          </a:xfrm>
          <a:prstGeom prst="roundRect">
            <a:avLst>
              <a:gd name="adj" fmla="val 5549"/>
            </a:avLst>
          </a:prstGeom>
          <a:gradFill flip="none" rotWithShape="1">
            <a:gsLst>
              <a:gs pos="0">
                <a:schemeClr val="bg1"/>
              </a:gs>
              <a:gs pos="100000">
                <a:schemeClr val="accent2">
                  <a:alpha val="44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7695DA1A-9AC4-E25A-80F9-AC7907E83409}"/>
              </a:ext>
            </a:extLst>
          </p:cNvPr>
          <p:cNvSpPr/>
          <p:nvPr/>
        </p:nvSpPr>
        <p:spPr>
          <a:xfrm rot="5400000">
            <a:off x="-9022" y="2596552"/>
            <a:ext cx="4934046" cy="3168000"/>
          </a:xfrm>
          <a:prstGeom prst="roundRect">
            <a:avLst>
              <a:gd name="adj" fmla="val 5549"/>
            </a:avLst>
          </a:prstGeom>
          <a:gradFill flip="none" rotWithShape="1">
            <a:gsLst>
              <a:gs pos="0">
                <a:schemeClr val="bg1"/>
              </a:gs>
              <a:gs pos="100000">
                <a:schemeClr val="accent2">
                  <a:alpha val="44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56CB582E-730A-AFA4-A0B1-F84874E57761}"/>
              </a:ext>
            </a:extLst>
          </p:cNvPr>
          <p:cNvSpPr txBox="1"/>
          <p:nvPr/>
        </p:nvSpPr>
        <p:spPr>
          <a:xfrm>
            <a:off x="3475920" y="162028"/>
            <a:ext cx="5240159" cy="769441"/>
          </a:xfrm>
          <a:prstGeom prst="rect">
            <a:avLst/>
          </a:prstGeom>
          <a:noFill/>
        </p:spPr>
        <p:txBody>
          <a:bodyPr wrap="square" rtlCol="0">
            <a:spAutoFit/>
          </a:bodyPr>
          <a:lstStyle/>
          <a:p>
            <a:pPr>
              <a:spcBef>
                <a:spcPts val="50"/>
              </a:spcBef>
              <a:spcAft>
                <a:spcPts val="50"/>
              </a:spcAft>
            </a:pPr>
            <a:r>
              <a:rPr lang="en-IN" sz="4400" b="1" dirty="0">
                <a:solidFill>
                  <a:schemeClr val="tx1">
                    <a:lumMod val="75000"/>
                    <a:lumOff val="25000"/>
                  </a:schemeClr>
                </a:solidFill>
                <a:latin typeface="Bahnschrift SemiBold Condensed" panose="020B0502040204020203" pitchFamily="34" charset="0"/>
              </a:rPr>
              <a:t>Where the work </a:t>
            </a:r>
            <a:r>
              <a:rPr lang="en-IN" sz="4400" b="1" dirty="0">
                <a:solidFill>
                  <a:srgbClr val="FF8800"/>
                </a:solidFill>
                <a:latin typeface="Bahnschrift SemiBold Condensed" panose="020B0502040204020203" pitchFamily="34" charset="0"/>
              </a:rPr>
              <a:t>actually is</a:t>
            </a:r>
            <a:endParaRPr lang="en-IN" sz="4400" dirty="0">
              <a:solidFill>
                <a:schemeClr val="tx1">
                  <a:lumMod val="65000"/>
                  <a:lumOff val="35000"/>
                </a:schemeClr>
              </a:solidFill>
              <a:latin typeface="Bahnschrift SemiBold Condensed" panose="020B0502040204020203" pitchFamily="34" charset="0"/>
            </a:endParaRPr>
          </a:p>
        </p:txBody>
      </p:sp>
      <p:sp>
        <p:nvSpPr>
          <p:cNvPr id="3" name="TextBox 2">
            <a:extLst>
              <a:ext uri="{FF2B5EF4-FFF2-40B4-BE49-F238E27FC236}">
                <a16:creationId xmlns:a16="http://schemas.microsoft.com/office/drawing/2014/main" id="{315804B6-ACC4-54F2-A08C-D3C04232376C}"/>
              </a:ext>
            </a:extLst>
          </p:cNvPr>
          <p:cNvSpPr txBox="1"/>
          <p:nvPr/>
        </p:nvSpPr>
        <p:spPr>
          <a:xfrm>
            <a:off x="5116511" y="793110"/>
            <a:ext cx="2716296" cy="400110"/>
          </a:xfrm>
          <a:prstGeom prst="rect">
            <a:avLst/>
          </a:prstGeom>
          <a:noFill/>
        </p:spPr>
        <p:txBody>
          <a:bodyPr wrap="square" rtlCol="0">
            <a:spAutoFit/>
          </a:bodyPr>
          <a:lstStyle/>
          <a:p>
            <a:r>
              <a:rPr lang="en-IN" sz="2000" dirty="0">
                <a:solidFill>
                  <a:schemeClr val="bg1">
                    <a:lumMod val="65000"/>
                  </a:schemeClr>
                </a:solidFill>
                <a:latin typeface="Bahnschrift SemiBold Condensed" panose="020B0502040204020203" pitchFamily="34" charset="0"/>
              </a:rPr>
              <a:t>Operational Burden</a:t>
            </a:r>
          </a:p>
        </p:txBody>
      </p:sp>
      <p:pic>
        <p:nvPicPr>
          <p:cNvPr id="4" name="Picture 3">
            <a:extLst>
              <a:ext uri="{FF2B5EF4-FFF2-40B4-BE49-F238E27FC236}">
                <a16:creationId xmlns:a16="http://schemas.microsoft.com/office/drawing/2014/main" id="{D4D1FEA3-CDD5-5EE5-B0F6-B51F58599A06}"/>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1012351" y="1482286"/>
            <a:ext cx="2901600" cy="2299105"/>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7B059204-0FCE-C109-6234-0EB451399FE8}"/>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4671802" y="1482286"/>
            <a:ext cx="2901598" cy="2376000"/>
          </a:xfrm>
          <a:prstGeom prst="rect">
            <a:avLst/>
          </a:prstGeom>
        </p:spPr>
      </p:pic>
      <p:sp>
        <p:nvSpPr>
          <p:cNvPr id="13" name="TextBox 12">
            <a:extLst>
              <a:ext uri="{FF2B5EF4-FFF2-40B4-BE49-F238E27FC236}">
                <a16:creationId xmlns:a16="http://schemas.microsoft.com/office/drawing/2014/main" id="{1D341F7F-4DC0-76ED-E953-562658D4970D}"/>
              </a:ext>
            </a:extLst>
          </p:cNvPr>
          <p:cNvSpPr txBox="1"/>
          <p:nvPr/>
        </p:nvSpPr>
        <p:spPr>
          <a:xfrm>
            <a:off x="963952" y="3929853"/>
            <a:ext cx="2848597"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It is dominated by one sub category “</a:t>
            </a:r>
            <a:r>
              <a:rPr lang="en-US" sz="1400" b="1"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Clearance Of Garbage Dump Or Black Spot</a:t>
            </a: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 with 3100 complaints registered to it.</a:t>
            </a:r>
            <a:endPar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14" name="TextBox 13">
            <a:extLst>
              <a:ext uri="{FF2B5EF4-FFF2-40B4-BE49-F238E27FC236}">
                <a16:creationId xmlns:a16="http://schemas.microsoft.com/office/drawing/2014/main" id="{4A50CEF5-F8E5-3C2B-8579-023DA504DB99}"/>
              </a:ext>
            </a:extLst>
          </p:cNvPr>
          <p:cNvSpPr txBox="1"/>
          <p:nvPr/>
        </p:nvSpPr>
        <p:spPr>
          <a:xfrm>
            <a:off x="953140" y="5210067"/>
            <a:ext cx="2848597"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Could improve resolving complaints regarding this at the first instance thereby improving resolution lag.</a:t>
            </a:r>
            <a:endPar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pic>
        <p:nvPicPr>
          <p:cNvPr id="17" name="Picture 16">
            <a:extLst>
              <a:ext uri="{FF2B5EF4-FFF2-40B4-BE49-F238E27FC236}">
                <a16:creationId xmlns:a16="http://schemas.microsoft.com/office/drawing/2014/main" id="{94879490-02C5-D013-E12D-2AE451B7A1F1}"/>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8313124" y="1482286"/>
            <a:ext cx="2901600" cy="2299105"/>
          </a:xfrm>
          <a:prstGeom prst="rect">
            <a:avLst/>
          </a:prstGeom>
        </p:spPr>
      </p:pic>
      <p:sp>
        <p:nvSpPr>
          <p:cNvPr id="20" name="TextBox 19">
            <a:extLst>
              <a:ext uri="{FF2B5EF4-FFF2-40B4-BE49-F238E27FC236}">
                <a16:creationId xmlns:a16="http://schemas.microsoft.com/office/drawing/2014/main" id="{8D1A3619-8A4A-8F95-9B81-CC69C2101AF9}"/>
              </a:ext>
            </a:extLst>
          </p:cNvPr>
          <p:cNvSpPr txBox="1"/>
          <p:nvPr/>
        </p:nvSpPr>
        <p:spPr>
          <a:xfrm>
            <a:off x="4671801" y="4027063"/>
            <a:ext cx="2848597" cy="954107"/>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It by far bears the highest operational burden, but with a subpar performance across all metrics.</a:t>
            </a:r>
          </a:p>
        </p:txBody>
      </p:sp>
      <p:sp>
        <p:nvSpPr>
          <p:cNvPr id="21" name="TextBox 20">
            <a:extLst>
              <a:ext uri="{FF2B5EF4-FFF2-40B4-BE49-F238E27FC236}">
                <a16:creationId xmlns:a16="http://schemas.microsoft.com/office/drawing/2014/main" id="{B76FCB1C-869A-EE41-59C8-C45040D01685}"/>
              </a:ext>
            </a:extLst>
          </p:cNvPr>
          <p:cNvSpPr txBox="1"/>
          <p:nvPr/>
        </p:nvSpPr>
        <p:spPr>
          <a:xfrm>
            <a:off x="4671801" y="5016277"/>
            <a:ext cx="2973252"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Composed of 11 relevant sub categories, covering a huge range of complaints.</a:t>
            </a:r>
          </a:p>
        </p:txBody>
      </p:sp>
      <p:sp>
        <p:nvSpPr>
          <p:cNvPr id="22" name="TextBox 21">
            <a:extLst>
              <a:ext uri="{FF2B5EF4-FFF2-40B4-BE49-F238E27FC236}">
                <a16:creationId xmlns:a16="http://schemas.microsoft.com/office/drawing/2014/main" id="{E4AA9422-D463-213B-8CD1-9FB8931B3471}"/>
              </a:ext>
            </a:extLst>
          </p:cNvPr>
          <p:cNvSpPr txBox="1"/>
          <p:nvPr/>
        </p:nvSpPr>
        <p:spPr>
          <a:xfrm>
            <a:off x="4671800" y="5832544"/>
            <a:ext cx="2848597"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 thorough review of complaint process could cause a city wide impact.</a:t>
            </a:r>
          </a:p>
        </p:txBody>
      </p:sp>
      <p:sp>
        <p:nvSpPr>
          <p:cNvPr id="26" name="TextBox 25">
            <a:extLst>
              <a:ext uri="{FF2B5EF4-FFF2-40B4-BE49-F238E27FC236}">
                <a16:creationId xmlns:a16="http://schemas.microsoft.com/office/drawing/2014/main" id="{B05EF63B-B108-54E3-1892-1D4F69607E6B}"/>
              </a:ext>
            </a:extLst>
          </p:cNvPr>
          <p:cNvSpPr txBox="1"/>
          <p:nvPr/>
        </p:nvSpPr>
        <p:spPr>
          <a:xfrm>
            <a:off x="8294836" y="3915478"/>
            <a:ext cx="2973252"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Two of its sub categories having ignorance rates of 50% and 60% are parking related</a:t>
            </a:r>
          </a:p>
        </p:txBody>
      </p:sp>
      <p:sp>
        <p:nvSpPr>
          <p:cNvPr id="27" name="TextBox 26">
            <a:extLst>
              <a:ext uri="{FF2B5EF4-FFF2-40B4-BE49-F238E27FC236}">
                <a16:creationId xmlns:a16="http://schemas.microsoft.com/office/drawing/2014/main" id="{043FAD1D-13E3-6E25-C6E0-0EC6112F5BBA}"/>
              </a:ext>
            </a:extLst>
          </p:cNvPr>
          <p:cNvSpPr txBox="1"/>
          <p:nvPr/>
        </p:nvSpPr>
        <p:spPr>
          <a:xfrm>
            <a:off x="8294836" y="4647391"/>
            <a:ext cx="2973252"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Parking-related complaints require appropriate verifiable evidence and are inherently time-sensitive. This may partly explain the comparatively higher ignorance rate.</a:t>
            </a:r>
            <a:endPar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endParaRPr>
          </a:p>
        </p:txBody>
      </p:sp>
      <p:sp>
        <p:nvSpPr>
          <p:cNvPr id="6" name="TextBox 5">
            <a:extLst>
              <a:ext uri="{FF2B5EF4-FFF2-40B4-BE49-F238E27FC236}">
                <a16:creationId xmlns:a16="http://schemas.microsoft.com/office/drawing/2014/main" id="{C7C40172-34CA-EEC6-6397-37E4CC45BA63}"/>
              </a:ext>
            </a:extLst>
          </p:cNvPr>
          <p:cNvSpPr txBox="1"/>
          <p:nvPr/>
        </p:nvSpPr>
        <p:spPr>
          <a:xfrm>
            <a:off x="8294836" y="6045233"/>
            <a:ext cx="2973252" cy="523220"/>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tx1">
                    <a:lumMod val="75000"/>
                    <a:lumOff val="25000"/>
                  </a:schemeClr>
                </a:solidFill>
                <a:latin typeface="Bahnschrift Light" panose="020B0502040204020203" pitchFamily="34" charset="0"/>
                <a:ea typeface="Microsoft Sans Serif" panose="020B0604020202020204" pitchFamily="34" charset="0"/>
                <a:cs typeface="Microsoft Sans Serif" panose="020B0604020202020204" pitchFamily="34" charset="0"/>
              </a:rPr>
              <a:t>And the only category under BTC, hence the exact metrics.</a:t>
            </a:r>
          </a:p>
        </p:txBody>
      </p:sp>
    </p:spTree>
    <p:extLst>
      <p:ext uri="{BB962C8B-B14F-4D97-AF65-F5344CB8AC3E}">
        <p14:creationId xmlns:p14="http://schemas.microsoft.com/office/powerpoint/2010/main" val="55595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8547FA-C5FC-6DD3-85EF-23D593E25B15}"/>
              </a:ext>
            </a:extLst>
          </p:cNvPr>
          <p:cNvPicPr>
            <a:picLocks noGrp="1" noRo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Lst>
          </a:blip>
          <a:srcRect l="-2564" r="-679" b="1328"/>
          <a:stretch>
            <a:fillRect/>
          </a:stretch>
        </p:blipFill>
        <p:spPr>
          <a:xfrm flipH="1" flipV="1">
            <a:off x="0" y="0"/>
            <a:ext cx="12192000" cy="1480930"/>
          </a:xfrm>
          <a:prstGeom prst="rect">
            <a:avLst/>
          </a:prstGeom>
          <a:effectLst>
            <a:reflection blurRad="6350" stA="50000" endA="300" endPos="55000" dir="5400000" sy="-100000" algn="bl" rotWithShape="0"/>
          </a:effectLst>
        </p:spPr>
      </p:pic>
      <p:pic>
        <p:nvPicPr>
          <p:cNvPr id="3" name="Picture 2">
            <a:extLst>
              <a:ext uri="{FF2B5EF4-FFF2-40B4-BE49-F238E27FC236}">
                <a16:creationId xmlns:a16="http://schemas.microsoft.com/office/drawing/2014/main" id="{E5CA4DB6-3A27-FE7F-F507-CEE154953473}"/>
              </a:ext>
            </a:extLst>
          </p:cNvPr>
          <p:cNvPicPr>
            <a:picLocks noGrp="1" noRo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a:off x="-3" y="5325842"/>
            <a:ext cx="6096000" cy="1560443"/>
          </a:xfrm>
          <a:prstGeom prst="rect">
            <a:avLst/>
          </a:prstGeom>
        </p:spPr>
      </p:pic>
      <p:pic>
        <p:nvPicPr>
          <p:cNvPr id="4" name="Picture 3">
            <a:extLst>
              <a:ext uri="{FF2B5EF4-FFF2-40B4-BE49-F238E27FC236}">
                <a16:creationId xmlns:a16="http://schemas.microsoft.com/office/drawing/2014/main" id="{92EA3CFC-64AA-D50D-9B7F-80E63C1B56F2}"/>
              </a:ext>
            </a:extLst>
          </p:cNvPr>
          <p:cNvPicPr>
            <a:picLocks noGrp="1" noRot="1" noMove="1" noResize="1" noEditPoints="1" noAdjustHandles="1" noChangeArrowheads="1" noChangeShapeType="1" noCrop="1"/>
          </p:cNvPicPr>
          <p:nvPr/>
        </p:nvPicPr>
        <p:blipFill>
          <a:blip r:embed="rId2">
            <a:alphaModFix amt="35000"/>
            <a:extLst>
              <a:ext uri="{28A0092B-C50C-407E-A947-70E740481C1C}">
                <a14:useLocalDpi xmlns:a14="http://schemas.microsoft.com/office/drawing/2010/main" val="0"/>
              </a:ext>
            </a:extLst>
          </a:blip>
          <a:srcRect r="49669" b="1328"/>
          <a:stretch>
            <a:fillRect/>
          </a:stretch>
        </p:blipFill>
        <p:spPr>
          <a:xfrm flipH="1">
            <a:off x="6096000" y="5242892"/>
            <a:ext cx="6096000" cy="1560443"/>
          </a:xfrm>
          <a:prstGeom prst="rect">
            <a:avLst/>
          </a:prstGeom>
        </p:spPr>
      </p:pic>
      <p:sp>
        <p:nvSpPr>
          <p:cNvPr id="5" name="TextBox 4">
            <a:extLst>
              <a:ext uri="{FF2B5EF4-FFF2-40B4-BE49-F238E27FC236}">
                <a16:creationId xmlns:a16="http://schemas.microsoft.com/office/drawing/2014/main" id="{59AA19A2-FB02-9653-6F79-8A12E64F5BFB}"/>
              </a:ext>
            </a:extLst>
          </p:cNvPr>
          <p:cNvSpPr txBox="1">
            <a:spLocks noGrp="1" noRot="1" noMove="1" noResize="1" noEditPoints="1" noAdjustHandles="1" noChangeArrowheads="1" noChangeShapeType="1"/>
          </p:cNvSpPr>
          <p:nvPr/>
        </p:nvSpPr>
        <p:spPr>
          <a:xfrm>
            <a:off x="1239618" y="2019410"/>
            <a:ext cx="9712757" cy="2431435"/>
          </a:xfrm>
          <a:prstGeom prst="rect">
            <a:avLst/>
          </a:prstGeom>
          <a:noFill/>
        </p:spPr>
        <p:txBody>
          <a:bodyPr wrap="square" rtlCol="0">
            <a:spAutoFit/>
          </a:bodyPr>
          <a:lstStyle/>
          <a:p>
            <a:r>
              <a:rPr lang="en-US" sz="4000" b="1" dirty="0">
                <a:solidFill>
                  <a:schemeClr val="tx1">
                    <a:lumMod val="75000"/>
                    <a:lumOff val="25000"/>
                  </a:schemeClr>
                </a:solidFill>
                <a:latin typeface="Bahnschrift SemiBold Condensed" panose="020B0502040204020203" pitchFamily="34" charset="0"/>
              </a:rPr>
              <a:t>Your </a:t>
            </a:r>
            <a:r>
              <a:rPr lang="en-US" sz="4000" b="1" dirty="0">
                <a:solidFill>
                  <a:srgbClr val="FF8800"/>
                </a:solidFill>
                <a:latin typeface="Bahnschrift SemiBold Condensed" panose="020B0502040204020203" pitchFamily="34" charset="0"/>
              </a:rPr>
              <a:t>complaint matters! </a:t>
            </a:r>
            <a:r>
              <a:rPr lang="en-US" sz="4000" b="1" dirty="0">
                <a:solidFill>
                  <a:schemeClr val="tx1">
                    <a:lumMod val="75000"/>
                    <a:lumOff val="25000"/>
                  </a:schemeClr>
                </a:solidFill>
                <a:latin typeface="Bahnschrift SemiBold Condensed" panose="020B0502040204020203" pitchFamily="34" charset="0"/>
              </a:rPr>
              <a:t>But where you filed it from and what category it falls under might matter more.</a:t>
            </a:r>
          </a:p>
          <a:p>
            <a:endParaRPr lang="en-US" sz="4000" b="1" dirty="0">
              <a:solidFill>
                <a:schemeClr val="tx1">
                  <a:lumMod val="75000"/>
                  <a:lumOff val="25000"/>
                </a:schemeClr>
              </a:solidFill>
              <a:latin typeface="Bahnschrift SemiBold Condensed" panose="020B0502040204020203" pitchFamily="34" charset="0"/>
            </a:endParaRPr>
          </a:p>
          <a:p>
            <a:r>
              <a:rPr lang="en-US" sz="3200" b="1" dirty="0">
                <a:solidFill>
                  <a:schemeClr val="tx1">
                    <a:lumMod val="65000"/>
                    <a:lumOff val="35000"/>
                  </a:schemeClr>
                </a:solidFill>
                <a:latin typeface="Bahnschrift SemiBold Condensed" panose="020B0502040204020203" pitchFamily="34" charset="0"/>
              </a:rPr>
              <a:t>That’s it! I appreciate your attention.</a:t>
            </a:r>
          </a:p>
        </p:txBody>
      </p:sp>
      <p:sp>
        <p:nvSpPr>
          <p:cNvPr id="6" name="TextBox 5">
            <a:extLst>
              <a:ext uri="{FF2B5EF4-FFF2-40B4-BE49-F238E27FC236}">
                <a16:creationId xmlns:a16="http://schemas.microsoft.com/office/drawing/2014/main" id="{AB179787-A2CC-B7BE-FC8D-C8259D0F0186}"/>
              </a:ext>
            </a:extLst>
          </p:cNvPr>
          <p:cNvSpPr txBox="1">
            <a:spLocks/>
          </p:cNvSpPr>
          <p:nvPr/>
        </p:nvSpPr>
        <p:spPr>
          <a:xfrm>
            <a:off x="1239618" y="4450845"/>
            <a:ext cx="3071125" cy="338554"/>
          </a:xfrm>
          <a:prstGeom prst="rect">
            <a:avLst/>
          </a:prstGeom>
          <a:noFill/>
        </p:spPr>
        <p:txBody>
          <a:bodyPr wrap="square" rtlCol="0">
            <a:spAutoFit/>
          </a:bodyPr>
          <a:lstStyle/>
          <a:p>
            <a:r>
              <a:rPr lang="en-US" sz="1600" dirty="0">
                <a:solidFill>
                  <a:schemeClr val="bg1">
                    <a:lumMod val="65000"/>
                  </a:schemeClr>
                </a:solidFill>
                <a:latin typeface="+mj-lt"/>
              </a:rPr>
              <a:t>Full analysis, notebook, and report: </a:t>
            </a:r>
          </a:p>
        </p:txBody>
      </p:sp>
      <p:sp>
        <p:nvSpPr>
          <p:cNvPr id="8" name="TextBox 7">
            <a:extLst>
              <a:ext uri="{FF2B5EF4-FFF2-40B4-BE49-F238E27FC236}">
                <a16:creationId xmlns:a16="http://schemas.microsoft.com/office/drawing/2014/main" id="{6825F637-9853-9087-CBA8-288DF9946BCF}"/>
              </a:ext>
            </a:extLst>
          </p:cNvPr>
          <p:cNvSpPr txBox="1">
            <a:spLocks noGrp="1" noRot="1" noMove="1" noResize="1" noEditPoints="1" noAdjustHandles="1" noChangeArrowheads="1" noChangeShapeType="1"/>
          </p:cNvSpPr>
          <p:nvPr/>
        </p:nvSpPr>
        <p:spPr>
          <a:xfrm>
            <a:off x="3251197" y="6199096"/>
            <a:ext cx="5689604" cy="307777"/>
          </a:xfrm>
          <a:prstGeom prst="rect">
            <a:avLst/>
          </a:prstGeom>
          <a:noFill/>
        </p:spPr>
        <p:txBody>
          <a:bodyPr wrap="square" rtlCol="0">
            <a:spAutoFit/>
          </a:bodyPr>
          <a:lstStyle/>
          <a:p>
            <a:r>
              <a:rPr lang="en-US" sz="1400" dirty="0">
                <a:solidFill>
                  <a:schemeClr val="bg1">
                    <a:lumMod val="50000"/>
                  </a:schemeClr>
                </a:solidFill>
                <a:latin typeface="+mj-lt"/>
                <a:ea typeface="Calibri Light" panose="020F0302020204030204" pitchFamily="34" charset="0"/>
                <a:cs typeface="Calibri Light" panose="020F0302020204030204" pitchFamily="34" charset="0"/>
              </a:rPr>
              <a:t>Mohamed Ahsan | Data Analyst |</a:t>
            </a:r>
            <a:endParaRPr lang="en-IN" sz="1400" dirty="0">
              <a:solidFill>
                <a:schemeClr val="bg1">
                  <a:lumMod val="50000"/>
                </a:schemeClr>
              </a:solidFill>
              <a:latin typeface="+mj-lt"/>
              <a:ea typeface="Calibri Light" panose="020F0302020204030204" pitchFamily="34" charset="0"/>
              <a:cs typeface="Calibri Light" panose="020F0302020204030204" pitchFamily="34" charset="0"/>
            </a:endParaRPr>
          </a:p>
        </p:txBody>
      </p:sp>
      <p:sp>
        <p:nvSpPr>
          <p:cNvPr id="15" name="TextBox 14">
            <a:extLst>
              <a:ext uri="{FF2B5EF4-FFF2-40B4-BE49-F238E27FC236}">
                <a16:creationId xmlns:a16="http://schemas.microsoft.com/office/drawing/2014/main" id="{252948AE-CF3F-80ED-D32F-1A27672BA5C5}"/>
              </a:ext>
            </a:extLst>
          </p:cNvPr>
          <p:cNvSpPr txBox="1"/>
          <p:nvPr/>
        </p:nvSpPr>
        <p:spPr>
          <a:xfrm>
            <a:off x="5850305" y="6195379"/>
            <a:ext cx="859233" cy="307777"/>
          </a:xfrm>
          <a:prstGeom prst="rect">
            <a:avLst/>
          </a:prstGeom>
          <a:noFill/>
        </p:spPr>
        <p:txBody>
          <a:bodyPr wrap="square" rtlCol="0">
            <a:spAutoFit/>
          </a:bodyPr>
          <a:lstStyle/>
          <a:p>
            <a:r>
              <a:rPr lang="en-US" sz="1400" dirty="0">
                <a:solidFill>
                  <a:schemeClr val="tx1">
                    <a:lumMod val="50000"/>
                    <a:lumOff val="50000"/>
                  </a:schemeClr>
                </a:solidFill>
                <a:latin typeface="+mj-lt"/>
                <a:ea typeface="Calibri Light" panose="020F0302020204030204" pitchFamily="34" charset="0"/>
                <a:cs typeface="Calibri Light" panose="020F0302020204030204" pitchFamily="34" charset="0"/>
                <a:hlinkClick r:id="rId3">
                  <a:extLst>
                    <a:ext uri="{A12FA001-AC4F-418D-AE19-62706E023703}">
                      <ahyp:hlinkClr xmlns:ahyp="http://schemas.microsoft.com/office/drawing/2018/hyperlinkcolor" val="tx"/>
                    </a:ext>
                  </a:extLst>
                </a:hlinkClick>
              </a:rPr>
              <a:t>LinkedIn</a:t>
            </a:r>
            <a:r>
              <a:rPr lang="en-US" sz="1400" dirty="0">
                <a:solidFill>
                  <a:schemeClr val="bg1">
                    <a:lumMod val="50000"/>
                  </a:schemeClr>
                </a:solidFill>
                <a:latin typeface="+mj-lt"/>
                <a:ea typeface="Calibri Light" panose="020F0302020204030204" pitchFamily="34" charset="0"/>
                <a:cs typeface="Calibri Light" panose="020F0302020204030204" pitchFamily="34" charset="0"/>
              </a:rPr>
              <a:t> |</a:t>
            </a:r>
            <a:endParaRPr lang="en-IN" sz="1400" dirty="0">
              <a:solidFill>
                <a:schemeClr val="bg1">
                  <a:lumMod val="50000"/>
                </a:schemeClr>
              </a:solidFill>
              <a:latin typeface="+mj-lt"/>
              <a:ea typeface="Calibri Light" panose="020F0302020204030204" pitchFamily="34" charset="0"/>
              <a:cs typeface="Calibri Light" panose="020F0302020204030204" pitchFamily="34" charset="0"/>
            </a:endParaRPr>
          </a:p>
        </p:txBody>
      </p:sp>
      <p:sp>
        <p:nvSpPr>
          <p:cNvPr id="16" name="TextBox 15">
            <a:extLst>
              <a:ext uri="{FF2B5EF4-FFF2-40B4-BE49-F238E27FC236}">
                <a16:creationId xmlns:a16="http://schemas.microsoft.com/office/drawing/2014/main" id="{03740AB7-802E-3CBB-CD8F-412B59D6FBA0}"/>
              </a:ext>
            </a:extLst>
          </p:cNvPr>
          <p:cNvSpPr txBox="1"/>
          <p:nvPr/>
        </p:nvSpPr>
        <p:spPr>
          <a:xfrm>
            <a:off x="6830102" y="6193439"/>
            <a:ext cx="2072684" cy="307777"/>
          </a:xfrm>
          <a:prstGeom prst="rect">
            <a:avLst/>
          </a:prstGeom>
          <a:noFill/>
        </p:spPr>
        <p:txBody>
          <a:bodyPr wrap="square" rtlCol="0">
            <a:spAutoFit/>
          </a:bodyPr>
          <a:lstStyle/>
          <a:p>
            <a:r>
              <a:rPr lang="en-US" sz="1400" dirty="0">
                <a:solidFill>
                  <a:schemeClr val="bg1">
                    <a:lumMod val="50000"/>
                  </a:schemeClr>
                </a:solidFill>
                <a:latin typeface="+mj-lt"/>
                <a:ea typeface="Calibri Light" panose="020F0302020204030204" pitchFamily="34" charset="0"/>
                <a:cs typeface="Calibri Light" panose="020F0302020204030204" pitchFamily="34" charset="0"/>
              </a:rPr>
              <a:t>ahsankassim@gmail.com</a:t>
            </a:r>
            <a:endParaRPr lang="en-IN" sz="1400" dirty="0">
              <a:solidFill>
                <a:schemeClr val="bg1">
                  <a:lumMod val="50000"/>
                </a:schemeClr>
              </a:solidFill>
              <a:latin typeface="+mj-lt"/>
              <a:ea typeface="Calibri Light" panose="020F0302020204030204" pitchFamily="34" charset="0"/>
              <a:cs typeface="Calibri Light" panose="020F0302020204030204" pitchFamily="34" charset="0"/>
            </a:endParaRPr>
          </a:p>
        </p:txBody>
      </p:sp>
      <p:pic>
        <p:nvPicPr>
          <p:cNvPr id="12" name="Picture 11">
            <a:extLst>
              <a:ext uri="{FF2B5EF4-FFF2-40B4-BE49-F238E27FC236}">
                <a16:creationId xmlns:a16="http://schemas.microsoft.com/office/drawing/2014/main" id="{84AF4D8C-DDE9-499A-02CE-60A6FC688417}"/>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5633621" y="6197000"/>
            <a:ext cx="308252" cy="308252"/>
          </a:xfrm>
          <a:prstGeom prst="rect">
            <a:avLst/>
          </a:prstGeom>
        </p:spPr>
      </p:pic>
      <p:pic>
        <p:nvPicPr>
          <p:cNvPr id="14" name="Picture 13">
            <a:extLst>
              <a:ext uri="{FF2B5EF4-FFF2-40B4-BE49-F238E27FC236}">
                <a16:creationId xmlns:a16="http://schemas.microsoft.com/office/drawing/2014/main" id="{5FCBA78F-A3D2-F2D3-843D-0FE7EE48603C}"/>
              </a:ext>
            </a:extLst>
          </p:cNvPr>
          <p:cNvPicPr>
            <a:picLocks noChangeAspect="1"/>
          </p:cNvPicPr>
          <p:nvPr/>
        </p:nvPicPr>
        <p:blipFill>
          <a:blip r:embed="rId5">
            <a:alphaModFix amt="70000"/>
            <a:extLst>
              <a:ext uri="{28A0092B-C50C-407E-A947-70E740481C1C}">
                <a14:useLocalDpi xmlns:a14="http://schemas.microsoft.com/office/drawing/2010/main" val="0"/>
              </a:ext>
            </a:extLst>
          </a:blip>
          <a:stretch>
            <a:fillRect/>
          </a:stretch>
        </p:blipFill>
        <p:spPr>
          <a:xfrm>
            <a:off x="6674486" y="6261126"/>
            <a:ext cx="180000" cy="180000"/>
          </a:xfrm>
          <a:prstGeom prst="rect">
            <a:avLst/>
          </a:prstGeom>
        </p:spPr>
      </p:pic>
      <p:sp>
        <p:nvSpPr>
          <p:cNvPr id="7" name="TextBox 6">
            <a:extLst>
              <a:ext uri="{FF2B5EF4-FFF2-40B4-BE49-F238E27FC236}">
                <a16:creationId xmlns:a16="http://schemas.microsoft.com/office/drawing/2014/main" id="{90147BA9-D0B7-009B-74ED-D6AF1454B49D}"/>
              </a:ext>
            </a:extLst>
          </p:cNvPr>
          <p:cNvSpPr txBox="1">
            <a:spLocks/>
          </p:cNvSpPr>
          <p:nvPr/>
        </p:nvSpPr>
        <p:spPr>
          <a:xfrm>
            <a:off x="4252184" y="4445188"/>
            <a:ext cx="4919808" cy="338554"/>
          </a:xfrm>
          <a:prstGeom prst="rect">
            <a:avLst/>
          </a:prstGeom>
          <a:noFill/>
        </p:spPr>
        <p:txBody>
          <a:bodyPr wrap="square" rtlCol="0">
            <a:spAutoFit/>
          </a:bodyPr>
          <a:lstStyle/>
          <a:p>
            <a:r>
              <a:rPr lang="en-IN" sz="1600" dirty="0" err="1">
                <a:solidFill>
                  <a:schemeClr val="bg1">
                    <a:lumMod val="65000"/>
                  </a:schemeClr>
                </a:solidFill>
                <a:hlinkClick r:id="rId6">
                  <a:extLst>
                    <a:ext uri="{A12FA001-AC4F-418D-AE19-62706E023703}">
                      <ahyp:hlinkClr xmlns:ahyp="http://schemas.microsoft.com/office/drawing/2018/hyperlinkcolor" val="tx"/>
                    </a:ext>
                  </a:extLst>
                </a:hlinkClick>
              </a:rPr>
              <a:t>ahsankassim</a:t>
            </a:r>
            <a:r>
              <a:rPr lang="en-IN" sz="1600" dirty="0">
                <a:solidFill>
                  <a:schemeClr val="bg1">
                    <a:lumMod val="65000"/>
                  </a:schemeClr>
                </a:solidFill>
                <a:hlinkClick r:id="rId6">
                  <a:extLst>
                    <a:ext uri="{A12FA001-AC4F-418D-AE19-62706E023703}">
                      <ahyp:hlinkClr xmlns:ahyp="http://schemas.microsoft.com/office/drawing/2018/hyperlinkcolor" val="tx"/>
                    </a:ext>
                  </a:extLst>
                </a:hlinkClick>
              </a:rPr>
              <a:t>/</a:t>
            </a:r>
            <a:r>
              <a:rPr lang="en-IN" sz="1600" dirty="0" err="1">
                <a:solidFill>
                  <a:schemeClr val="bg1">
                    <a:lumMod val="65000"/>
                  </a:schemeClr>
                </a:solidFill>
                <a:hlinkClick r:id="rId6">
                  <a:extLst>
                    <a:ext uri="{A12FA001-AC4F-418D-AE19-62706E023703}">
                      <ahyp:hlinkClr xmlns:ahyp="http://schemas.microsoft.com/office/drawing/2018/hyperlinkcolor" val="tx"/>
                    </a:ext>
                  </a:extLst>
                </a:hlinkClick>
              </a:rPr>
              <a:t>Bangalore_Citizen_Complaint_Analysis</a:t>
            </a:r>
            <a:endParaRPr lang="en-US" sz="1600" dirty="0">
              <a:solidFill>
                <a:schemeClr val="bg1">
                  <a:lumMod val="65000"/>
                </a:schemeClr>
              </a:solidFill>
              <a:latin typeface="+mj-lt"/>
            </a:endParaRPr>
          </a:p>
        </p:txBody>
      </p:sp>
    </p:spTree>
    <p:extLst>
      <p:ext uri="{BB962C8B-B14F-4D97-AF65-F5344CB8AC3E}">
        <p14:creationId xmlns:p14="http://schemas.microsoft.com/office/powerpoint/2010/main" val="915706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3009</TotalTime>
  <Words>1010</Words>
  <Application>Microsoft Office PowerPoint</Application>
  <PresentationFormat>Widescreen</PresentationFormat>
  <Paragraphs>55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Bahnschrift Light</vt:lpstr>
      <vt:lpstr>Bahnschrift SemiBold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Ahsan</dc:creator>
  <cp:lastModifiedBy>Mohamed Ahsan</cp:lastModifiedBy>
  <cp:revision>38</cp:revision>
  <dcterms:created xsi:type="dcterms:W3CDTF">2026-06-23T14:22:53Z</dcterms:created>
  <dcterms:modified xsi:type="dcterms:W3CDTF">2026-07-29T12:31:36Z</dcterms:modified>
</cp:coreProperties>
</file>