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ED"/>
    <a:srgbClr val="FFFFFF"/>
    <a:srgbClr val="FFF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91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60E54-ACB3-4EA6-884A-0789F38F1A7B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0B0DD-0601-4DF7-AB6D-7450B126D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460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0B0DD-0601-4DF7-AB6D-7450B126DBC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231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0B0DD-0601-4DF7-AB6D-7450B126DBC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082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AC0A-E198-6531-7E68-FBD36ADD2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5D7DA-ADD9-F95D-CFC4-352EBE421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4710C-0113-5954-3487-33DE4D858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12811-4956-4641-B37B-9329BA328A9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B4470-133C-BDC5-87E5-3AA2C338B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53055-050D-D184-E168-93765E85F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DD0E-BCD0-4853-81B5-A1CD205E9C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961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843D8-1BF5-F2C1-EA98-10641100C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EA9BB-E0CA-DB5D-EE3D-950208589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6AB5A-F6AD-B18D-D4A0-A3CC5DB6F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12811-4956-4641-B37B-9329BA328A9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ADF43-8CF7-919E-46D1-E19424E77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C045E-9C62-A78B-96A7-228D61AF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DD0E-BCD0-4853-81B5-A1CD205E9C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710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18C02-CA49-089B-194B-F33551C7E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8DB25-7AA9-F562-AA0F-6FE1FFE9A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DE256-9D56-97B6-B665-18DFA7498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12811-4956-4641-B37B-9329BA328A9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717E9-EF1D-0535-5D19-6FB9DBCD1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5B076-7E85-DF2F-8229-ACA83AB6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DD0E-BCD0-4853-81B5-A1CD205E9C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98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6BD5-F17D-DF17-E6F7-9C56B085E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43656-E4D2-37F3-EFFB-56E43A1FD0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9D5FC9-AB1D-FD88-B278-F7E23173A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3BD4C-809A-C383-1C1C-50A5FE7AF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12811-4956-4641-B37B-9329BA328A9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67105-3EC5-FB10-660F-9F6F7965E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5F60F-8DB3-DB65-20D6-A3FDCBAC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DD0E-BCD0-4853-81B5-A1CD205E9C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451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D57D9-3C15-3F6B-92E7-86FAE7A8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B223A-F99E-4107-C533-3CBEBA986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12C5A-8559-BC47-9DD2-3B5905998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E81C3C-09C7-2449-281A-366F7D629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778C24-F5BE-41A1-5A1F-01F4D9DBA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CFAA55-F430-57CB-C482-7D4D288A0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12811-4956-4641-B37B-9329BA328A9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C3371E-EE75-3AA2-E07F-4D14409AD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FB90D7-72DF-C6AA-87F9-B7055D627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DD0E-BCD0-4853-81B5-A1CD205E9C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669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91158-1A39-5685-A363-F19266767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A21D7-0621-5F20-4FCC-16F291BBA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12811-4956-4641-B37B-9329BA328A9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0A9236-D141-0F6B-D10D-B18EF15A9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5F806-516A-2150-303D-9D1A329EC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DD0E-BCD0-4853-81B5-A1CD205E9C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66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21D2E8-7516-78F4-A629-14C89E86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12811-4956-4641-B37B-9329BA328A9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5D3B31-52C0-0D9F-4EA4-6B523196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91680-EAFC-68B9-CB01-279D7F780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DD0E-BCD0-4853-81B5-A1CD205E9C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45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3FAE-2C98-6F6C-9191-A2540DD94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A5F59-D0A2-C71F-418D-49CF4D467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87D43-7AF3-AD86-B599-A0C390529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8E127-1106-6D2C-0A6A-EA90192F9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12811-4956-4641-B37B-9329BA328A9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39214-631F-C9EC-423A-A200FEE22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9F7C6-F105-00C9-BA97-19B4F487C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DD0E-BCD0-4853-81B5-A1CD205E9C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858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7817-A722-6B05-595A-9A7336EF9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26ABB-D7C8-0675-9D23-7B9817FCD3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61683-87E0-46E6-AD9C-67F056C35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4675A-C6D0-4C53-09B0-0AD5F87AB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12811-4956-4641-B37B-9329BA328A9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F111E-DF6E-08EC-D5B4-33DCFBEC0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2DE89-848D-3D5C-D657-C4F65E194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DD0E-BCD0-4853-81B5-A1CD205E9C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35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3BB77-0321-0E59-7585-E32A18A38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3F265-112A-C64C-18FC-678F3525A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D82FF-194A-2E08-A0AE-1F00E526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12811-4956-4641-B37B-9329BA328A9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2267F-E30C-13CB-A737-8280B670C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0E602-0638-95DA-172B-E7460DC40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DD0E-BCD0-4853-81B5-A1CD205E9C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138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378068-3EC8-2848-FD8D-5D4FB27AD9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1A84B-C814-0E7D-093B-CFA1222DF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5F6BA-B53C-03C1-2E80-6BBB7B2B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12811-4956-4641-B37B-9329BA328A9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BB961-0CA6-25EC-BFCE-5FA0984A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809E6-64EF-4657-E811-B15D72E91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DD0E-BCD0-4853-81B5-A1CD205E9C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443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7E450B-7A35-FD9D-D786-6F23789AF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EF146-98D9-32C8-85DF-069003D1D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E8FBD-C34B-A4AE-1B9C-A2D326BEDF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B12811-4956-4641-B37B-9329BA328A9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69006-60F2-0891-266C-B851D67219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341C8-9526-E87E-1234-AE7DD4F3B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FDD0E-BCD0-4853-81B5-A1CD205E9C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05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1C5849-C52F-94D6-E783-8A72DD0EF002}"/>
              </a:ext>
            </a:extLst>
          </p:cNvPr>
          <p:cNvGrpSpPr/>
          <p:nvPr/>
        </p:nvGrpSpPr>
        <p:grpSpPr>
          <a:xfrm>
            <a:off x="97024" y="127122"/>
            <a:ext cx="3733800" cy="2936879"/>
            <a:chOff x="97024" y="127122"/>
            <a:chExt cx="3733800" cy="293687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9523DDE1-791D-A3BE-46A2-F7FC605C79FF}"/>
                </a:ext>
              </a:extLst>
            </p:cNvPr>
            <p:cNvSpPr/>
            <p:nvPr/>
          </p:nvSpPr>
          <p:spPr>
            <a:xfrm>
              <a:off x="97024" y="127122"/>
              <a:ext cx="3733800" cy="2936879"/>
            </a:xfrm>
            <a:prstGeom prst="roundRect">
              <a:avLst>
                <a:gd name="adj" fmla="val 5039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2">
                  <a:lumMod val="5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B1F5813A-6772-5BD3-2154-4FDA05EB49CD}"/>
                </a:ext>
              </a:extLst>
            </p:cNvPr>
            <p:cNvSpPr/>
            <p:nvPr/>
          </p:nvSpPr>
          <p:spPr>
            <a:xfrm>
              <a:off x="223125" y="264894"/>
              <a:ext cx="3481598" cy="510198"/>
            </a:xfrm>
            <a:prstGeom prst="roundRect">
              <a:avLst>
                <a:gd name="adj" fmla="val 17142"/>
              </a:avLst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path path="circle">
                <a:fillToRect l="100000" t="100000"/>
              </a:path>
            </a:gradFill>
            <a:ln w="3175">
              <a:solidFill>
                <a:schemeClr val="bg2">
                  <a:lumMod val="50000"/>
                  <a:alpha val="3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75D2729-F231-32EF-36C9-F0A1BBE09FAA}"/>
                </a:ext>
              </a:extLst>
            </p:cNvPr>
            <p:cNvSpPr txBox="1"/>
            <p:nvPr/>
          </p:nvSpPr>
          <p:spPr>
            <a:xfrm>
              <a:off x="469153" y="356900"/>
              <a:ext cx="310029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solidFill>
                    <a:schemeClr val="bg1"/>
                  </a:solidFill>
                  <a:latin typeface="Bahnschrift SemiBold" panose="020B0502040204020203" pitchFamily="34" charset="0"/>
                  <a:ea typeface="Malgun Gothic" panose="020B0503020000020004" pitchFamily="34" charset="-127"/>
                </a:rPr>
                <a:t>Garbage and Unsanitary Practices</a:t>
              </a:r>
              <a:endParaRPr lang="en-IN" sz="1500" b="1" dirty="0">
                <a:solidFill>
                  <a:schemeClr val="bg1"/>
                </a:solidFill>
                <a:latin typeface="Bahnschrift SemiBold" panose="020B0502040204020203" pitchFamily="34" charset="0"/>
                <a:ea typeface="Malgun Gothic" panose="020B0503020000020004" pitchFamily="34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F99B38-6431-0E72-70E8-38238919119D}"/>
                </a:ext>
              </a:extLst>
            </p:cNvPr>
            <p:cNvSpPr txBox="1"/>
            <p:nvPr/>
          </p:nvSpPr>
          <p:spPr>
            <a:xfrm>
              <a:off x="252930" y="855670"/>
              <a:ext cx="25793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Total Complaints</a:t>
              </a:r>
              <a:endParaRPr lang="en-IN" sz="1200" dirty="0">
                <a:solidFill>
                  <a:schemeClr val="bg1"/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0D0E651-3975-AEA7-3544-3DA03B75D69A}"/>
                </a:ext>
              </a:extLst>
            </p:cNvPr>
            <p:cNvSpPr txBox="1"/>
            <p:nvPr/>
          </p:nvSpPr>
          <p:spPr>
            <a:xfrm>
              <a:off x="2631700" y="914646"/>
              <a:ext cx="10791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solidFill>
                    <a:schemeClr val="bg1"/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3933</a:t>
              </a:r>
              <a:endParaRPr lang="en-IN" sz="1400" b="1" dirty="0">
                <a:solidFill>
                  <a:schemeClr val="bg1"/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AF78928-7D8E-9486-8D71-1E4A05E832FD}"/>
                </a:ext>
              </a:extLst>
            </p:cNvPr>
            <p:cNvCxnSpPr/>
            <p:nvPr/>
          </p:nvCxnSpPr>
          <p:spPr>
            <a:xfrm>
              <a:off x="369259" y="1293977"/>
              <a:ext cx="3273552" cy="0"/>
            </a:xfrm>
            <a:prstGeom prst="line">
              <a:avLst/>
            </a:prstGeom>
            <a:ln w="6350">
              <a:solidFill>
                <a:schemeClr val="bg2">
                  <a:lumMod val="75000"/>
                  <a:alpha val="34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0BF80F1-7347-14DD-535A-3CD427DDE0D9}"/>
                </a:ext>
              </a:extLst>
            </p:cNvPr>
            <p:cNvSpPr txBox="1"/>
            <p:nvPr/>
          </p:nvSpPr>
          <p:spPr>
            <a:xfrm>
              <a:off x="272570" y="1062035"/>
              <a:ext cx="286686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/>
                  </a:solidFill>
                  <a:latin typeface="Bahnschrift Ligh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Second highest in terms of Complaints received</a:t>
              </a:r>
              <a:endParaRPr lang="en-IN" sz="700" dirty="0">
                <a:solidFill>
                  <a:schemeClr val="bg1"/>
                </a:solidFill>
                <a:latin typeface="Bahnschrift Ligh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9A27BE8-67EC-451A-0A89-B6D531A15BAB}"/>
                </a:ext>
              </a:extLst>
            </p:cNvPr>
            <p:cNvCxnSpPr/>
            <p:nvPr/>
          </p:nvCxnSpPr>
          <p:spPr>
            <a:xfrm>
              <a:off x="369259" y="2299817"/>
              <a:ext cx="3273552" cy="0"/>
            </a:xfrm>
            <a:prstGeom prst="line">
              <a:avLst/>
            </a:prstGeom>
            <a:ln w="6350">
              <a:solidFill>
                <a:schemeClr val="bg2">
                  <a:lumMod val="75000"/>
                  <a:alpha val="34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8107524-F511-0C0D-C658-F3EED93911DE}"/>
                </a:ext>
              </a:extLst>
            </p:cNvPr>
            <p:cNvCxnSpPr/>
            <p:nvPr/>
          </p:nvCxnSpPr>
          <p:spPr>
            <a:xfrm>
              <a:off x="369259" y="1801046"/>
              <a:ext cx="3273552" cy="0"/>
            </a:xfrm>
            <a:prstGeom prst="line">
              <a:avLst/>
            </a:prstGeom>
            <a:ln w="6350">
              <a:solidFill>
                <a:schemeClr val="bg2">
                  <a:lumMod val="75000"/>
                  <a:alpha val="34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6ECBBCD-B2AD-E4E8-7922-F4328918297D}"/>
                </a:ext>
              </a:extLst>
            </p:cNvPr>
            <p:cNvCxnSpPr/>
            <p:nvPr/>
          </p:nvCxnSpPr>
          <p:spPr>
            <a:xfrm>
              <a:off x="369259" y="2793593"/>
              <a:ext cx="3273552" cy="0"/>
            </a:xfrm>
            <a:prstGeom prst="line">
              <a:avLst/>
            </a:prstGeom>
            <a:ln w="6350">
              <a:solidFill>
                <a:schemeClr val="bg2">
                  <a:lumMod val="75000"/>
                  <a:alpha val="34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BB83D66-6AC3-050C-56BF-0A13E358B772}"/>
                </a:ext>
              </a:extLst>
            </p:cNvPr>
            <p:cNvSpPr txBox="1"/>
            <p:nvPr/>
          </p:nvSpPr>
          <p:spPr>
            <a:xfrm>
              <a:off x="276818" y="1919586"/>
              <a:ext cx="24419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Effective Resolution Rate</a:t>
              </a:r>
              <a:endParaRPr lang="en-IN" sz="1200" dirty="0">
                <a:solidFill>
                  <a:schemeClr val="bg1"/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B14D8BF-6A89-83FB-5F11-C932A0CB54E9}"/>
                </a:ext>
              </a:extLst>
            </p:cNvPr>
            <p:cNvSpPr txBox="1"/>
            <p:nvPr/>
          </p:nvSpPr>
          <p:spPr>
            <a:xfrm>
              <a:off x="267098" y="1350292"/>
              <a:ext cx="23646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Resolution Rate</a:t>
              </a:r>
              <a:endParaRPr lang="en-IN" sz="1200" dirty="0">
                <a:solidFill>
                  <a:schemeClr val="bg1"/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ADE639E-CAA5-5706-7B45-F97CB70F5B28}"/>
                </a:ext>
              </a:extLst>
            </p:cNvPr>
            <p:cNvSpPr txBox="1"/>
            <p:nvPr/>
          </p:nvSpPr>
          <p:spPr>
            <a:xfrm>
              <a:off x="286739" y="1556657"/>
              <a:ext cx="218358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/>
                  </a:solidFill>
                  <a:latin typeface="Bahnschrift Ligh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Highest in terms of Resolution Rate</a:t>
              </a:r>
              <a:endParaRPr lang="en-IN" sz="700" dirty="0">
                <a:solidFill>
                  <a:schemeClr val="bg1"/>
                </a:solidFill>
                <a:latin typeface="Bahnschrift Ligh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4EAB13E-D39A-86DB-EE9F-C88C908479DF}"/>
                </a:ext>
              </a:extLst>
            </p:cNvPr>
            <p:cNvSpPr txBox="1"/>
            <p:nvPr/>
          </p:nvSpPr>
          <p:spPr>
            <a:xfrm>
              <a:off x="2367393" y="1405663"/>
              <a:ext cx="13538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solidFill>
                    <a:schemeClr val="bg1"/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50%</a:t>
              </a:r>
              <a:endParaRPr lang="en-IN" sz="1400" b="1" dirty="0">
                <a:solidFill>
                  <a:schemeClr val="bg1"/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E93A99E-AA03-9400-D613-61210B19C061}"/>
                </a:ext>
              </a:extLst>
            </p:cNvPr>
            <p:cNvSpPr txBox="1"/>
            <p:nvPr/>
          </p:nvSpPr>
          <p:spPr>
            <a:xfrm>
              <a:off x="2489962" y="1897584"/>
              <a:ext cx="119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solidFill>
                    <a:schemeClr val="bg1"/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84%</a:t>
              </a:r>
              <a:endParaRPr lang="en-IN" sz="1400" b="1" dirty="0">
                <a:solidFill>
                  <a:schemeClr val="bg1"/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E9BA3FE-F106-9FF0-8ADB-B81ADD0AB49F}"/>
                </a:ext>
              </a:extLst>
            </p:cNvPr>
            <p:cNvSpPr txBox="1"/>
            <p:nvPr/>
          </p:nvSpPr>
          <p:spPr>
            <a:xfrm>
              <a:off x="243936" y="2362873"/>
              <a:ext cx="25455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Comments Per Complaint</a:t>
              </a:r>
              <a:endParaRPr lang="en-IN" sz="1200" dirty="0">
                <a:solidFill>
                  <a:schemeClr val="bg1"/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FA4B56D-2A93-8324-11CA-A86ED5231DF7}"/>
                </a:ext>
              </a:extLst>
            </p:cNvPr>
            <p:cNvSpPr txBox="1"/>
            <p:nvPr/>
          </p:nvSpPr>
          <p:spPr>
            <a:xfrm>
              <a:off x="263578" y="2569238"/>
              <a:ext cx="245510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/>
                  </a:solidFill>
                  <a:latin typeface="Bahnschrift Ligh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Highest in terms of CPC</a:t>
              </a:r>
              <a:endParaRPr lang="en-IN" sz="700" dirty="0">
                <a:solidFill>
                  <a:schemeClr val="bg1"/>
                </a:solidFill>
                <a:latin typeface="Bahnschrift Ligh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BB3122B-C82A-D920-588D-59B1785299FB}"/>
                </a:ext>
              </a:extLst>
            </p:cNvPr>
            <p:cNvSpPr txBox="1"/>
            <p:nvPr/>
          </p:nvSpPr>
          <p:spPr>
            <a:xfrm>
              <a:off x="2486751" y="2405170"/>
              <a:ext cx="119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solidFill>
                    <a:schemeClr val="bg1"/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1.84</a:t>
              </a:r>
              <a:endParaRPr lang="en-IN" sz="1400" b="1" dirty="0">
                <a:solidFill>
                  <a:schemeClr val="bg1"/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5798FF6-F94E-4010-797B-8D3D308BC1C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076852" y="149124"/>
            <a:ext cx="3733800" cy="3279876"/>
            <a:chOff x="4076852" y="149124"/>
            <a:chExt cx="3733800" cy="3279876"/>
          </a:xfrm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73521E64-8DB7-D5DD-EAC4-FE66F4E2B3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76852" y="149124"/>
              <a:ext cx="3733800" cy="3279876"/>
            </a:xfrm>
            <a:prstGeom prst="roundRect">
              <a:avLst>
                <a:gd name="adj" fmla="val 5688"/>
              </a:avLst>
            </a:prstGeom>
            <a:solidFill>
              <a:srgbClr val="FFFFFF"/>
            </a:solidFill>
            <a:ln w="3175">
              <a:solidFill>
                <a:schemeClr val="bg2">
                  <a:lumMod val="5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F2169AEF-33F3-3C79-734D-095B76F902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02953" y="286895"/>
              <a:ext cx="3481598" cy="745955"/>
            </a:xfrm>
            <a:prstGeom prst="roundRect">
              <a:avLst>
                <a:gd name="adj" fmla="val 17142"/>
              </a:avLst>
            </a:pr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13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 w="3175">
              <a:solidFill>
                <a:schemeClr val="accent2">
                  <a:alpha val="36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7057CAA-0B57-79CA-C512-A2501E153D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48981" y="378902"/>
              <a:ext cx="3100293" cy="553998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" panose="020B0502040204020203" pitchFamily="34" charset="0"/>
                  <a:ea typeface="Malgun Gothic" panose="020B0503020000020004" pitchFamily="34" charset="-127"/>
                </a:rPr>
                <a:t>Mobility - Roads, Footpaths and Infrastructure</a:t>
              </a:r>
              <a:endPara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" panose="020B0502040204020203" pitchFamily="34" charset="0"/>
                <a:ea typeface="Malgun Gothic" panose="020B0503020000020004" pitchFamily="34" charset="-127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B2DF55A-01E0-E717-700C-92683D83B84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32758" y="1195725"/>
              <a:ext cx="25793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Total Complaints</a:t>
              </a:r>
              <a:endParaRPr lang="en-IN" sz="1200" dirty="0"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848CF51-A0B6-B9A2-E26B-97374AE7836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11528" y="1254701"/>
              <a:ext cx="10791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5183</a:t>
              </a:r>
              <a:endParaRPr lang="en-IN" sz="1400" b="1" dirty="0"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DA8E6008-E322-FFB4-EF63-489B1CCC8E7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349087" y="1634032"/>
              <a:ext cx="3273552" cy="0"/>
            </a:xfrm>
            <a:prstGeom prst="line">
              <a:avLst/>
            </a:prstGeom>
            <a:ln w="6350">
              <a:solidFill>
                <a:schemeClr val="accent2">
                  <a:lumMod val="75000"/>
                  <a:alpha val="56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8C64882-EE22-0FD0-B15D-789A141BAB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2398" y="1402090"/>
              <a:ext cx="286686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50000"/>
                    </a:schemeClr>
                  </a:solidFill>
                  <a:latin typeface="Bahnschrift Ligh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Highest in terms of Complaints received</a:t>
              </a:r>
              <a:endParaRPr lang="en-IN" sz="700" dirty="0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FB9C43A9-17BD-6963-5B0F-8990C17379F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349087" y="2639872"/>
              <a:ext cx="3273552" cy="0"/>
            </a:xfrm>
            <a:prstGeom prst="line">
              <a:avLst/>
            </a:prstGeom>
            <a:ln w="6350">
              <a:solidFill>
                <a:schemeClr val="accent2">
                  <a:lumMod val="75000"/>
                  <a:alpha val="56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74871ABF-D43B-B85F-CC31-E64F4A0C27E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349087" y="2141101"/>
              <a:ext cx="3273552" cy="0"/>
            </a:xfrm>
            <a:prstGeom prst="line">
              <a:avLst/>
            </a:prstGeom>
            <a:ln w="6350">
              <a:solidFill>
                <a:schemeClr val="accent2">
                  <a:lumMod val="75000"/>
                  <a:alpha val="56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3547D76-4CA0-AA86-0841-50AE69702FD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349087" y="3133648"/>
              <a:ext cx="3273552" cy="0"/>
            </a:xfrm>
            <a:prstGeom prst="line">
              <a:avLst/>
            </a:prstGeom>
            <a:ln w="6350">
              <a:solidFill>
                <a:schemeClr val="accent2">
                  <a:lumMod val="75000"/>
                  <a:alpha val="56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021FA68-067F-78E6-CA61-FCD9BCA26DD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6646" y="2259641"/>
              <a:ext cx="24419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Resolution Rate</a:t>
              </a:r>
              <a:endParaRPr lang="en-IN" sz="1200" dirty="0"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84B6407-3D43-0EE8-6F97-C3313D9E830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64830" y="1731658"/>
              <a:ext cx="23646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Acceptance Rate</a:t>
              </a:r>
              <a:endParaRPr lang="en-IN" sz="1200" dirty="0"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3EF6645-8F0C-A2B7-6EF7-277F541B7B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347221" y="1745718"/>
              <a:ext cx="13538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56%</a:t>
              </a:r>
              <a:endParaRPr lang="en-IN" sz="1400" b="1" dirty="0"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0184DE2-9C85-D824-CBE0-03AE5FA76A1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469790" y="2237639"/>
              <a:ext cx="119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30%</a:t>
              </a:r>
              <a:endParaRPr lang="en-IN" sz="1400" b="1" dirty="0"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CF344A6-3A57-A09A-54DE-3C47D7B8E73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66566" y="2720519"/>
              <a:ext cx="25455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Effective Resolution Rate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86C70F8A-9ACC-0826-6B13-7978E366F7F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466579" y="2745225"/>
              <a:ext cx="119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55%</a:t>
              </a:r>
              <a:endParaRPr lang="en-IN" sz="1400" b="1" dirty="0"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5897663-21D2-AD85-5FB7-7EA9568CB12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082887" y="356900"/>
            <a:ext cx="3733800" cy="2936879"/>
            <a:chOff x="8082887" y="356900"/>
            <a:chExt cx="3733800" cy="2936879"/>
          </a:xfrm>
        </p:grpSpPr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8714F673-9B42-067E-059D-1E2869949E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82887" y="356900"/>
              <a:ext cx="3733800" cy="2936879"/>
            </a:xfrm>
            <a:prstGeom prst="roundRect">
              <a:avLst>
                <a:gd name="adj" fmla="val 5039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2">
                  <a:lumMod val="5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41871989-409E-5B5E-666E-18EBBB46A3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8988" y="494672"/>
              <a:ext cx="3481598" cy="510198"/>
            </a:xfrm>
            <a:prstGeom prst="roundRect">
              <a:avLst>
                <a:gd name="adj" fmla="val 17142"/>
              </a:avLst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path path="circle">
                <a:fillToRect l="100000" t="100000"/>
              </a:path>
            </a:gradFill>
            <a:ln w="3175">
              <a:solidFill>
                <a:schemeClr val="bg2">
                  <a:lumMod val="50000"/>
                  <a:alpha val="3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A890EFED-5858-1104-B10A-7BF13C19939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55016" y="586678"/>
              <a:ext cx="310029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b="1" dirty="0">
                  <a:solidFill>
                    <a:schemeClr val="bg1"/>
                  </a:solidFill>
                  <a:latin typeface="Bahnschrift SemiBold" panose="020B0502040204020203" pitchFamily="34" charset="0"/>
                  <a:ea typeface="Malgun Gothic" panose="020B0503020000020004" pitchFamily="34" charset="-127"/>
                </a:rPr>
                <a:t>Traffic and Road Safety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02C9F04-481B-215E-B22D-CB6E4A8391F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38793" y="1085448"/>
              <a:ext cx="25793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Total Complaints</a:t>
              </a:r>
              <a:endParaRPr lang="en-IN" sz="1200" dirty="0">
                <a:solidFill>
                  <a:schemeClr val="bg1"/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678586E-6B08-3AF2-8AE4-BFC67128B5B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617563" y="1144424"/>
              <a:ext cx="10791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solidFill>
                    <a:schemeClr val="bg1"/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984</a:t>
              </a:r>
              <a:endParaRPr lang="en-IN" sz="1400" b="1" dirty="0">
                <a:solidFill>
                  <a:schemeClr val="bg1"/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73B341A3-6731-BA7A-EC5F-CD938D4341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355122" y="1523755"/>
              <a:ext cx="3273552" cy="0"/>
            </a:xfrm>
            <a:prstGeom prst="line">
              <a:avLst/>
            </a:prstGeom>
            <a:ln w="6350">
              <a:solidFill>
                <a:schemeClr val="bg2">
                  <a:lumMod val="75000"/>
                  <a:alpha val="34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2FEC731-288C-23D7-5B83-058DBDA6952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58433" y="1291813"/>
              <a:ext cx="286686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/>
                  </a:solidFill>
                  <a:latin typeface="Bahnschrift Ligh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Fourth highest in terms of Complaints received</a:t>
              </a:r>
              <a:endParaRPr lang="en-IN" sz="700" dirty="0">
                <a:solidFill>
                  <a:schemeClr val="bg1"/>
                </a:solidFill>
                <a:latin typeface="Bahnschrift Ligh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68A0A8A1-8874-C82F-8FEC-0638816F34C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355122" y="2529595"/>
              <a:ext cx="3273552" cy="0"/>
            </a:xfrm>
            <a:prstGeom prst="line">
              <a:avLst/>
            </a:prstGeom>
            <a:ln w="6350">
              <a:solidFill>
                <a:schemeClr val="bg2">
                  <a:lumMod val="75000"/>
                  <a:alpha val="34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AEB3B6CE-81EF-27B9-4455-F81AD2BBA1A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355122" y="2030824"/>
              <a:ext cx="3273552" cy="0"/>
            </a:xfrm>
            <a:prstGeom prst="line">
              <a:avLst/>
            </a:prstGeom>
            <a:ln w="6350">
              <a:solidFill>
                <a:schemeClr val="bg2">
                  <a:lumMod val="75000"/>
                  <a:alpha val="34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B07A64A-0BE0-FEE1-22B9-A908A6346BA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355122" y="3023371"/>
              <a:ext cx="3273552" cy="0"/>
            </a:xfrm>
            <a:prstGeom prst="line">
              <a:avLst/>
            </a:prstGeom>
            <a:ln w="6350">
              <a:solidFill>
                <a:schemeClr val="bg2">
                  <a:lumMod val="75000"/>
                  <a:alpha val="34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C15927A-8F5A-8363-91E4-7072A59B0FD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58433" y="2095842"/>
              <a:ext cx="23646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Effective Resolution Rate</a:t>
              </a:r>
              <a:endParaRPr lang="en-IN" sz="1200" dirty="0">
                <a:solidFill>
                  <a:schemeClr val="bg1"/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9808D3F-0587-DF6B-03E2-B52E459393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78074" y="2302207"/>
              <a:ext cx="218358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/>
                  </a:solidFill>
                  <a:latin typeface="Bahnschrift Ligh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Second Lowest</a:t>
              </a:r>
              <a:endParaRPr lang="en-IN" sz="700" dirty="0">
                <a:solidFill>
                  <a:schemeClr val="bg1"/>
                </a:solidFill>
                <a:latin typeface="Bahnschrift Ligh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36D9B2FA-5284-F6C2-B571-C7951D0E9AF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353256" y="1635441"/>
              <a:ext cx="13538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solidFill>
                    <a:schemeClr val="bg1"/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19%</a:t>
              </a:r>
              <a:endParaRPr lang="en-IN" sz="1400" b="1" dirty="0">
                <a:solidFill>
                  <a:schemeClr val="bg1"/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1FBA2CF-205E-E6DD-3F32-0216A2FFB1D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75825" y="2127362"/>
              <a:ext cx="119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solidFill>
                    <a:schemeClr val="bg1"/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36%</a:t>
              </a:r>
              <a:endParaRPr lang="en-IN" sz="1400" b="1" dirty="0">
                <a:solidFill>
                  <a:schemeClr val="bg1"/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7A8AD74-00CF-E4E4-4BB5-CB29EE19EE2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72601" y="2583614"/>
              <a:ext cx="25455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solidFill>
                    <a:schemeClr val="bg1"/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Ignorance Rate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812BD978-64C8-7EF0-7DA5-C5C3EECB7CF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92243" y="2808648"/>
              <a:ext cx="245510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/>
                  </a:solidFill>
                  <a:latin typeface="Bahnschrift Ligh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Highest Ignorance Rate</a:t>
              </a:r>
              <a:endParaRPr lang="en-IN" sz="700" dirty="0">
                <a:solidFill>
                  <a:schemeClr val="bg1"/>
                </a:solidFill>
                <a:latin typeface="Bahnschrift Ligh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0080AA3-101E-CF2D-36C1-47ED2528164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72614" y="2634948"/>
              <a:ext cx="119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solidFill>
                    <a:schemeClr val="bg1"/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33%</a:t>
              </a:r>
              <a:endParaRPr lang="en-IN" sz="1400" b="1" dirty="0">
                <a:solidFill>
                  <a:schemeClr val="bg1"/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403B2A-FFF4-4A56-BB11-829686D5357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52961" y="1622440"/>
              <a:ext cx="23646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Resolution Rate</a:t>
              </a:r>
              <a:endParaRPr lang="en-IN" sz="1200" dirty="0">
                <a:solidFill>
                  <a:schemeClr val="bg1"/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7047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0A29A3D1-A60B-4C27-5E70-C8638B6E5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53" y="1152939"/>
            <a:ext cx="1186158" cy="344378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0479BE8-0B54-1492-F780-22091A4390FD}"/>
              </a:ext>
            </a:extLst>
          </p:cNvPr>
          <p:cNvSpPr txBox="1"/>
          <p:nvPr/>
        </p:nvSpPr>
        <p:spPr>
          <a:xfrm>
            <a:off x="1849830" y="3062793"/>
            <a:ext cx="24652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thorough review of complaint process could cause a city wide impact.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AB40AF-6120-6E0E-CC22-9039C7111F6D}"/>
              </a:ext>
            </a:extLst>
          </p:cNvPr>
          <p:cNvSpPr txBox="1"/>
          <p:nvPr/>
        </p:nvSpPr>
        <p:spPr>
          <a:xfrm>
            <a:off x="1849832" y="1152939"/>
            <a:ext cx="25730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Parking-related complaints require appropriate verifiable evidence and are inherently time-sensitive. This may partly explain the comparatively higher ignorance rate.</a:t>
            </a:r>
            <a:endParaRPr lang="en-IN" sz="1400" dirty="0">
              <a:solidFill>
                <a:schemeClr val="bg1">
                  <a:lumMod val="50000"/>
                </a:schemeClr>
              </a:solidFill>
              <a:latin typeface="Bahnschrift Light" panose="020B0502040204020203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5BCA3D-B2DB-7CE2-B64D-BA1E910CD6F3}"/>
              </a:ext>
            </a:extLst>
          </p:cNvPr>
          <p:cNvSpPr txBox="1"/>
          <p:nvPr/>
        </p:nvSpPr>
        <p:spPr>
          <a:xfrm>
            <a:off x="1849831" y="3889180"/>
            <a:ext cx="24652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thorough review of complaint process could cause a city wide impact.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2BE2348-8CD3-35CC-0370-F41BB3D35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913" y="1184055"/>
            <a:ext cx="1186158" cy="3443789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C50B75F-5FA0-6300-5084-63933840EC9D}"/>
              </a:ext>
            </a:extLst>
          </p:cNvPr>
          <p:cNvSpPr txBox="1"/>
          <p:nvPr/>
        </p:nvSpPr>
        <p:spPr>
          <a:xfrm>
            <a:off x="5763391" y="3165498"/>
            <a:ext cx="24652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thorough review of complaint process could cause a city wide impact.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5FC521-9A25-F208-66CF-1BEE713D540F}"/>
              </a:ext>
            </a:extLst>
          </p:cNvPr>
          <p:cNvSpPr txBox="1"/>
          <p:nvPr/>
        </p:nvSpPr>
        <p:spPr>
          <a:xfrm>
            <a:off x="5763393" y="1255644"/>
            <a:ext cx="25730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Parking-related complaints require appropriate verifiable evidence and are inherently time-sensitive. This may partly explain the comparatively higher ignorance rate.</a:t>
            </a:r>
            <a:endParaRPr lang="en-IN" sz="1400" dirty="0">
              <a:solidFill>
                <a:schemeClr val="bg1">
                  <a:lumMod val="50000"/>
                </a:schemeClr>
              </a:solidFill>
              <a:latin typeface="Bahnschrift Light" panose="020B0502040204020203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420AF8-D174-BE35-22BB-CA4D6794467F}"/>
              </a:ext>
            </a:extLst>
          </p:cNvPr>
          <p:cNvSpPr txBox="1"/>
          <p:nvPr/>
        </p:nvSpPr>
        <p:spPr>
          <a:xfrm>
            <a:off x="5763392" y="3991885"/>
            <a:ext cx="24652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thorough review of complaint process could cause a city wide impact.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DFFFFA7-B549-07DD-4DA9-E05D85770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439" y="1246926"/>
            <a:ext cx="1186158" cy="344378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70597DBF-735F-48B4-1F20-E60CA7D44A76}"/>
              </a:ext>
            </a:extLst>
          </p:cNvPr>
          <p:cNvSpPr txBox="1"/>
          <p:nvPr/>
        </p:nvSpPr>
        <p:spPr>
          <a:xfrm>
            <a:off x="9618917" y="3228369"/>
            <a:ext cx="24652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thorough review of complaint process could cause a city wide impact.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9C069C-D8C5-A303-B896-4D82BB3B2684}"/>
              </a:ext>
            </a:extLst>
          </p:cNvPr>
          <p:cNvSpPr txBox="1"/>
          <p:nvPr/>
        </p:nvSpPr>
        <p:spPr>
          <a:xfrm>
            <a:off x="9618919" y="1318515"/>
            <a:ext cx="25730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Parking-related complaints require appropriate verifiable evidence and are inherently time-sensitive. This may partly explain the comparatively higher ignorance rate.</a:t>
            </a:r>
            <a:endParaRPr lang="en-IN" sz="1400" dirty="0">
              <a:solidFill>
                <a:schemeClr val="bg1">
                  <a:lumMod val="50000"/>
                </a:schemeClr>
              </a:solidFill>
              <a:latin typeface="Bahnschrift Light" panose="020B0502040204020203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007065-2807-AA53-F3BB-95D406E02625}"/>
              </a:ext>
            </a:extLst>
          </p:cNvPr>
          <p:cNvSpPr txBox="1"/>
          <p:nvPr/>
        </p:nvSpPr>
        <p:spPr>
          <a:xfrm>
            <a:off x="9618918" y="4054756"/>
            <a:ext cx="24652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thorough review of complaint process could cause a city wide impact.</a:t>
            </a:r>
          </a:p>
        </p:txBody>
      </p:sp>
    </p:spTree>
    <p:extLst>
      <p:ext uri="{BB962C8B-B14F-4D97-AF65-F5344CB8AC3E}">
        <p14:creationId xmlns:p14="http://schemas.microsoft.com/office/powerpoint/2010/main" val="867443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E68C2752-F3F1-5476-7C9D-AE5CEE121F1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35999" y="245126"/>
            <a:ext cx="4271470" cy="3418395"/>
            <a:chOff x="3852959" y="1261126"/>
            <a:chExt cx="4271470" cy="3418395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22DE2F8-08CA-6AD6-58D6-1E541DC51B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52959" y="1261126"/>
              <a:ext cx="4271470" cy="3418395"/>
            </a:xfrm>
            <a:prstGeom prst="roundRect">
              <a:avLst>
                <a:gd name="adj" fmla="val 7072"/>
              </a:avLst>
            </a:prstGeom>
            <a:gradFill flip="none" rotWithShape="1">
              <a:gsLst>
                <a:gs pos="53000">
                  <a:srgbClr val="FDF3ED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9A89CEC-67B9-585F-617F-21B998A5E25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85351" y="1440104"/>
              <a:ext cx="22422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err="1">
                  <a:solidFill>
                    <a:schemeClr val="accent2">
                      <a:lumMod val="75000"/>
                    </a:schemeClr>
                  </a:solidFill>
                  <a:latin typeface="Bahnschrift SemiBold" panose="020B0502040204020203" pitchFamily="34" charset="0"/>
                </a:rPr>
                <a:t>Bellanduru</a:t>
              </a:r>
              <a:endParaRPr lang="en-IN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endParaRPr>
            </a:p>
            <a:p>
              <a:endParaRPr lang="en-IN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1627F62-64C6-171D-CCDC-85F245CB03B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118962" y="1996621"/>
              <a:ext cx="3756991" cy="0"/>
            </a:xfrm>
            <a:prstGeom prst="line">
              <a:avLst/>
            </a:prstGeom>
            <a:ln w="3175">
              <a:gradFill flip="none" rotWithShape="1">
                <a:gsLst>
                  <a:gs pos="68000">
                    <a:schemeClr val="tx1">
                      <a:lumMod val="65000"/>
                      <a:lumOff val="35000"/>
                      <a:alpha val="48000"/>
                    </a:schemeClr>
                  </a:gs>
                  <a:gs pos="100000">
                    <a:srgbClr val="FDF3ED"/>
                  </a:gs>
                </a:gsLst>
                <a:path path="shap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ABC33AD-43A6-852F-E987-AAAF9A8E2A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84063" y="2178479"/>
              <a:ext cx="1249018" cy="1107273"/>
            </a:xfrm>
            <a:prstGeom prst="roundRect">
              <a:avLst>
                <a:gd name="adj" fmla="val 6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80552C7-DBBA-F46A-81DB-D5679557E1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84063" y="3428999"/>
              <a:ext cx="1983908" cy="1107273"/>
            </a:xfrm>
            <a:prstGeom prst="roundRect">
              <a:avLst>
                <a:gd name="adj" fmla="val 6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9BA7AC8-C714-66BD-2F4E-22BF5AFA25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1057" y="1738236"/>
              <a:ext cx="286686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50000"/>
                    </a:schemeClr>
                  </a:solidFill>
                  <a:latin typeface="Bahnschrift Ligh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Best Overall Performance</a:t>
              </a:r>
              <a:endParaRPr lang="en-IN" sz="700" dirty="0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5AF732-E624-7FCA-A840-1E8BC7ADA94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6034" y="2242225"/>
              <a:ext cx="9702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accent2">
                      <a:lumMod val="75000"/>
                    </a:schemeClr>
                  </a:solidFill>
                  <a:latin typeface="Bahnschrift SemiBold SemiConden" panose="020B0502040204020203" pitchFamily="34" charset="0"/>
                </a:rPr>
                <a:t>Total Complaints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3A92456-C400-88AC-661D-03BED045898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64776" y="2787429"/>
              <a:ext cx="1129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727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C0690AD-F46A-4A99-4BFB-7F60CF875E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4108" y="3497949"/>
              <a:ext cx="1767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accent2">
                      <a:lumMod val="75000"/>
                    </a:schemeClr>
                  </a:solidFill>
                  <a:latin typeface="Bahnschrift SemiBold SemiConden" panose="020B0502040204020203" pitchFamily="34" charset="0"/>
                </a:rPr>
                <a:t>Effective Resolution Rate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8B3900-3807-2E42-F6A6-E7D652035A0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67824" y="4025472"/>
              <a:ext cx="14246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77%</a:t>
              </a:r>
              <a:endPara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3BC2CB7-CCF8-5409-7E9E-D4018FC5A0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64185" y="2178477"/>
              <a:ext cx="1249018" cy="1107273"/>
            </a:xfrm>
            <a:prstGeom prst="roundRect">
              <a:avLst>
                <a:gd name="adj" fmla="val 6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38B5D46-22EB-CF51-DB74-460F9F03224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36156" y="2242223"/>
              <a:ext cx="11290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accent2">
                      <a:lumMod val="75000"/>
                    </a:schemeClr>
                  </a:solidFill>
                  <a:latin typeface="Bahnschrift SemiBold SemiConden" panose="020B0502040204020203" pitchFamily="34" charset="0"/>
                </a:rPr>
                <a:t>Acceptance Rate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74AD22B-E8D7-F449-4A52-ACD0D24C63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44898" y="2787427"/>
              <a:ext cx="1129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57%</a:t>
              </a:r>
              <a:endPara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649A436-5EAB-D519-4DBC-649E19251F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744307" y="2178477"/>
              <a:ext cx="1249018" cy="1107273"/>
            </a:xfrm>
            <a:prstGeom prst="roundRect">
              <a:avLst>
                <a:gd name="adj" fmla="val 6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6070727-54DD-0EA8-7421-91445EA7F5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16278" y="2242223"/>
              <a:ext cx="970260" cy="535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accent2">
                      <a:lumMod val="75000"/>
                    </a:schemeClr>
                  </a:solidFill>
                  <a:latin typeface="Bahnschrift SemiBold SemiConden" panose="020B0502040204020203" pitchFamily="34" charset="0"/>
                </a:rPr>
                <a:t>Resolution Rate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4A0A8ED-9909-91D3-88BD-4DFEB6A41BD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25020" y="2787427"/>
              <a:ext cx="1129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44%</a:t>
              </a:r>
              <a:endPara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B08CBD08-4011-ABA4-848A-6D4B534ED7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51732" y="3428999"/>
              <a:ext cx="1983908" cy="1107273"/>
            </a:xfrm>
            <a:prstGeom prst="roundRect">
              <a:avLst>
                <a:gd name="adj" fmla="val 6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93317FE-B6B9-5FB1-F4C5-39FF5451CD6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21777" y="3497949"/>
              <a:ext cx="1767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accent2">
                      <a:lumMod val="75000"/>
                    </a:schemeClr>
                  </a:solidFill>
                  <a:latin typeface="Bahnschrift SemiBold SemiConden" panose="020B0502040204020203" pitchFamily="34" charset="0"/>
                </a:rPr>
                <a:t>Comments Per Complaint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F02CE03-9F24-D63D-7B07-6B8E28B2DE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35493" y="4025472"/>
              <a:ext cx="13869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1.72</a:t>
              </a:r>
              <a:endPara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EFCE089-687B-BD8F-0682-92607D33AE9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739861" y="245125"/>
            <a:ext cx="4271470" cy="3418395"/>
            <a:chOff x="3852959" y="1261126"/>
            <a:chExt cx="4271470" cy="3418395"/>
          </a:xfrm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AABA1FC4-1A21-2C97-7542-C83BA2E18F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52959" y="1261126"/>
              <a:ext cx="4271470" cy="3418395"/>
            </a:xfrm>
            <a:prstGeom prst="roundRect">
              <a:avLst>
                <a:gd name="adj" fmla="val 7072"/>
              </a:avLst>
            </a:prstGeom>
            <a:gradFill flip="none" rotWithShape="1">
              <a:gsLst>
                <a:gs pos="53000">
                  <a:srgbClr val="FDF3ED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3B3CEA5-33F2-1365-F44E-324F62FAEBC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72643" y="1495102"/>
              <a:ext cx="22422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err="1">
                  <a:solidFill>
                    <a:schemeClr val="accent2">
                      <a:lumMod val="75000"/>
                    </a:schemeClr>
                  </a:solidFill>
                  <a:latin typeface="Bahnschrift SemiBold" panose="020B0502040204020203" pitchFamily="34" charset="0"/>
                </a:rPr>
                <a:t>Hagadur</a:t>
              </a:r>
              <a:endParaRPr lang="en-IN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5FD3DF3-3C13-D72E-0478-24607D69758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118962" y="1996621"/>
              <a:ext cx="3756991" cy="0"/>
            </a:xfrm>
            <a:prstGeom prst="line">
              <a:avLst/>
            </a:prstGeom>
            <a:ln w="3175">
              <a:gradFill flip="none" rotWithShape="1">
                <a:gsLst>
                  <a:gs pos="68000">
                    <a:schemeClr val="tx1">
                      <a:lumMod val="65000"/>
                      <a:lumOff val="35000"/>
                      <a:alpha val="48000"/>
                    </a:schemeClr>
                  </a:gs>
                  <a:gs pos="100000">
                    <a:srgbClr val="FDF3ED"/>
                  </a:gs>
                </a:gsLst>
                <a:path path="shap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19CB75B9-B071-4E70-E1A5-0C74EC6CD0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84063" y="2178479"/>
              <a:ext cx="1249018" cy="1107273"/>
            </a:xfrm>
            <a:prstGeom prst="roundRect">
              <a:avLst>
                <a:gd name="adj" fmla="val 6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73EDD686-BE62-583F-6943-4D53CF2700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84063" y="3428999"/>
              <a:ext cx="1983908" cy="1107273"/>
            </a:xfrm>
            <a:prstGeom prst="roundRect">
              <a:avLst>
                <a:gd name="adj" fmla="val 6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3F662D5-CF0B-BCC5-F5CF-DF4367EB606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1057" y="1738236"/>
              <a:ext cx="286686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sz="700" dirty="0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6CAF96C-D19A-54BB-B9B3-D9A9D82D98A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6034" y="2242225"/>
              <a:ext cx="9702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accent2">
                      <a:lumMod val="75000"/>
                    </a:schemeClr>
                  </a:solidFill>
                  <a:latin typeface="Bahnschrift SemiBold SemiConden" panose="020B0502040204020203" pitchFamily="34" charset="0"/>
                </a:rPr>
                <a:t>Total Complaints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8C9FD69-965F-973B-0C86-D848E560F3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64776" y="2787429"/>
              <a:ext cx="1129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237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C5A849F-2192-7465-77B7-E2651455334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4108" y="3497949"/>
              <a:ext cx="1767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accent2">
                      <a:lumMod val="75000"/>
                    </a:schemeClr>
                  </a:solidFill>
                  <a:latin typeface="Bahnschrift SemiBold SemiConden" panose="020B0502040204020203" pitchFamily="34" charset="0"/>
                </a:rPr>
                <a:t>Effective Resolution Rate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63B2076-1DEB-9294-530C-47B3664FCFA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67824" y="4025472"/>
              <a:ext cx="14246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54%</a:t>
              </a:r>
              <a:endPara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5ED99B26-0BB8-D0FF-79C3-38E58EBE11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64185" y="2178477"/>
              <a:ext cx="1249018" cy="1107273"/>
            </a:xfrm>
            <a:prstGeom prst="roundRect">
              <a:avLst>
                <a:gd name="adj" fmla="val 6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061EA86-A895-6B1E-747D-D49EC0F1122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36156" y="2242223"/>
              <a:ext cx="11290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accent2">
                      <a:lumMod val="75000"/>
                    </a:schemeClr>
                  </a:solidFill>
                  <a:latin typeface="Bahnschrift SemiBold SemiConden" panose="020B0502040204020203" pitchFamily="34" charset="0"/>
                </a:rPr>
                <a:t>Acceptance Rate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08191F2-836C-1001-F265-07056954428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44898" y="2787427"/>
              <a:ext cx="1129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44%</a:t>
              </a:r>
              <a:endPara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D647E4DA-1FD6-88B3-EC2F-88C4258F7A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744307" y="2178477"/>
              <a:ext cx="1249018" cy="1107273"/>
            </a:xfrm>
            <a:prstGeom prst="roundRect">
              <a:avLst>
                <a:gd name="adj" fmla="val 6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CF61D10-2724-BFF2-AB3F-CC55D63DEE8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16278" y="2242223"/>
              <a:ext cx="970260" cy="535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accent2">
                      <a:lumMod val="75000"/>
                    </a:schemeClr>
                  </a:solidFill>
                  <a:latin typeface="Bahnschrift SemiBold SemiConden" panose="020B0502040204020203" pitchFamily="34" charset="0"/>
                </a:rPr>
                <a:t>Resolution Rate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62CCC4F-3210-4B33-F907-014BFEF3D09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25020" y="2787427"/>
              <a:ext cx="1129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24%</a:t>
              </a:r>
              <a:endPara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92E680A6-E71F-F475-FE7F-32AA8AA736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51732" y="3428999"/>
              <a:ext cx="1983908" cy="1107273"/>
            </a:xfrm>
            <a:prstGeom prst="roundRect">
              <a:avLst>
                <a:gd name="adj" fmla="val 6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E54F26F-9207-3841-6B68-52D43218DF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21777" y="3497949"/>
              <a:ext cx="1767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accent2">
                      <a:lumMod val="75000"/>
                    </a:schemeClr>
                  </a:solidFill>
                  <a:latin typeface="Bahnschrift SemiBold SemiConden" panose="020B0502040204020203" pitchFamily="34" charset="0"/>
                </a:rPr>
                <a:t>Ignorance </a:t>
              </a:r>
            </a:p>
            <a:p>
              <a:r>
                <a:rPr lang="en-IN" sz="1400" dirty="0">
                  <a:solidFill>
                    <a:schemeClr val="accent2">
                      <a:lumMod val="75000"/>
                    </a:schemeClr>
                  </a:solidFill>
                  <a:latin typeface="Bahnschrift SemiBold SemiConden" panose="020B0502040204020203" pitchFamily="34" charset="0"/>
                </a:rPr>
                <a:t>Rate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40B7AF9-B097-0416-234E-E27804E7885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35493" y="4025472"/>
              <a:ext cx="13869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3.0%</a:t>
              </a:r>
              <a:endPara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9F0DEFB-F499-0CE5-305B-E9EF5E2BF8C8}"/>
              </a:ext>
            </a:extLst>
          </p:cNvPr>
          <p:cNvGrpSpPr/>
          <p:nvPr/>
        </p:nvGrpSpPr>
        <p:grpSpPr>
          <a:xfrm>
            <a:off x="7725545" y="2878699"/>
            <a:ext cx="4271470" cy="3418395"/>
            <a:chOff x="3852959" y="1261126"/>
            <a:chExt cx="4271470" cy="3418395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0A54B529-0218-1B2D-AD88-714CCF5C189B}"/>
                </a:ext>
              </a:extLst>
            </p:cNvPr>
            <p:cNvSpPr/>
            <p:nvPr/>
          </p:nvSpPr>
          <p:spPr>
            <a:xfrm>
              <a:off x="3852959" y="1261126"/>
              <a:ext cx="4271470" cy="3418395"/>
            </a:xfrm>
            <a:prstGeom prst="roundRect">
              <a:avLst>
                <a:gd name="adj" fmla="val 7072"/>
              </a:avLst>
            </a:prstGeom>
            <a:gradFill flip="none" rotWithShape="1">
              <a:gsLst>
                <a:gs pos="53000">
                  <a:srgbClr val="FDF3ED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4DFB736-677F-E384-E902-7DEF48650181}"/>
                </a:ext>
              </a:extLst>
            </p:cNvPr>
            <p:cNvSpPr txBox="1"/>
            <p:nvPr/>
          </p:nvSpPr>
          <p:spPr>
            <a:xfrm>
              <a:off x="4072643" y="1495102"/>
              <a:ext cx="22422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err="1">
                  <a:solidFill>
                    <a:schemeClr val="accent2">
                      <a:lumMod val="75000"/>
                    </a:schemeClr>
                  </a:solidFill>
                  <a:latin typeface="Bahnschrift SemiBold" panose="020B0502040204020203" pitchFamily="34" charset="0"/>
                </a:rPr>
                <a:t>Horamavu</a:t>
              </a:r>
              <a:endParaRPr lang="en-IN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3CE6393-382E-A4FA-6A6A-7680E05A57E7}"/>
                </a:ext>
              </a:extLst>
            </p:cNvPr>
            <p:cNvCxnSpPr/>
            <p:nvPr/>
          </p:nvCxnSpPr>
          <p:spPr>
            <a:xfrm>
              <a:off x="4118962" y="1996621"/>
              <a:ext cx="3756991" cy="0"/>
            </a:xfrm>
            <a:prstGeom prst="line">
              <a:avLst/>
            </a:prstGeom>
            <a:ln w="3175">
              <a:gradFill flip="none" rotWithShape="1">
                <a:gsLst>
                  <a:gs pos="68000">
                    <a:schemeClr val="tx1">
                      <a:lumMod val="65000"/>
                      <a:lumOff val="35000"/>
                      <a:alpha val="48000"/>
                    </a:schemeClr>
                  </a:gs>
                  <a:gs pos="100000">
                    <a:srgbClr val="FDF3ED"/>
                  </a:gs>
                </a:gsLst>
                <a:path path="shap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D2041824-BFFC-7025-2680-881F5EAE7C9B}"/>
                </a:ext>
              </a:extLst>
            </p:cNvPr>
            <p:cNvSpPr/>
            <p:nvPr/>
          </p:nvSpPr>
          <p:spPr>
            <a:xfrm>
              <a:off x="3984063" y="2178479"/>
              <a:ext cx="1249018" cy="1107273"/>
            </a:xfrm>
            <a:prstGeom prst="roundRect">
              <a:avLst>
                <a:gd name="adj" fmla="val 6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8596C7D5-1286-F123-2E3A-9712776184DA}"/>
                </a:ext>
              </a:extLst>
            </p:cNvPr>
            <p:cNvSpPr/>
            <p:nvPr/>
          </p:nvSpPr>
          <p:spPr>
            <a:xfrm>
              <a:off x="3984063" y="3428999"/>
              <a:ext cx="1983908" cy="1107273"/>
            </a:xfrm>
            <a:prstGeom prst="roundRect">
              <a:avLst>
                <a:gd name="adj" fmla="val 6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165DEFC-D806-7037-6C83-675902830AC7}"/>
                </a:ext>
              </a:extLst>
            </p:cNvPr>
            <p:cNvSpPr txBox="1"/>
            <p:nvPr/>
          </p:nvSpPr>
          <p:spPr>
            <a:xfrm>
              <a:off x="4101057" y="1738236"/>
              <a:ext cx="286686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sz="700" dirty="0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B883D1E-C053-A9D3-3197-828A26D0CDB5}"/>
                </a:ext>
              </a:extLst>
            </p:cNvPr>
            <p:cNvSpPr txBox="1"/>
            <p:nvPr/>
          </p:nvSpPr>
          <p:spPr>
            <a:xfrm>
              <a:off x="4056034" y="2242225"/>
              <a:ext cx="9702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accent2">
                      <a:lumMod val="75000"/>
                    </a:schemeClr>
                  </a:solidFill>
                  <a:latin typeface="Bahnschrift SemiBold SemiConden" panose="020B0502040204020203" pitchFamily="34" charset="0"/>
                </a:rPr>
                <a:t>Total Complaints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0067DE5-3297-9C41-FA3D-EFDB8E4AB3AC}"/>
                </a:ext>
              </a:extLst>
            </p:cNvPr>
            <p:cNvSpPr txBox="1"/>
            <p:nvPr/>
          </p:nvSpPr>
          <p:spPr>
            <a:xfrm>
              <a:off x="4064776" y="2787429"/>
              <a:ext cx="1129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506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08A626F-894B-E5A1-7670-62B18499A26F}"/>
                </a:ext>
              </a:extLst>
            </p:cNvPr>
            <p:cNvSpPr txBox="1"/>
            <p:nvPr/>
          </p:nvSpPr>
          <p:spPr>
            <a:xfrm>
              <a:off x="4054108" y="3497949"/>
              <a:ext cx="1767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accent2">
                      <a:lumMod val="75000"/>
                    </a:schemeClr>
                  </a:solidFill>
                  <a:latin typeface="Bahnschrift SemiBold SemiConden" panose="020B0502040204020203" pitchFamily="34" charset="0"/>
                </a:rPr>
                <a:t>Effective Resolution Rate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AC61C5C-BF57-8FDE-B02A-CC50A421378D}"/>
                </a:ext>
              </a:extLst>
            </p:cNvPr>
            <p:cNvSpPr txBox="1"/>
            <p:nvPr/>
          </p:nvSpPr>
          <p:spPr>
            <a:xfrm>
              <a:off x="4067824" y="4025472"/>
              <a:ext cx="14246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60%</a:t>
              </a:r>
              <a:endPara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3F3D3364-5A81-B688-B0F0-649AD3FC5D88}"/>
                </a:ext>
              </a:extLst>
            </p:cNvPr>
            <p:cNvSpPr/>
            <p:nvPr/>
          </p:nvSpPr>
          <p:spPr>
            <a:xfrm>
              <a:off x="5364185" y="2178477"/>
              <a:ext cx="1249018" cy="1107273"/>
            </a:xfrm>
            <a:prstGeom prst="roundRect">
              <a:avLst>
                <a:gd name="adj" fmla="val 6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93F2993-B3BE-E94C-CDD5-7A9F7FF3018A}"/>
                </a:ext>
              </a:extLst>
            </p:cNvPr>
            <p:cNvSpPr txBox="1"/>
            <p:nvPr/>
          </p:nvSpPr>
          <p:spPr>
            <a:xfrm>
              <a:off x="5436156" y="2242223"/>
              <a:ext cx="11290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accent2">
                      <a:lumMod val="75000"/>
                    </a:schemeClr>
                  </a:solidFill>
                  <a:latin typeface="Bahnschrift SemiBold SemiConden" panose="020B0502040204020203" pitchFamily="34" charset="0"/>
                </a:rPr>
                <a:t>Acceptance Rate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89AFE348-A02C-B367-777C-C5D1BC8D36C6}"/>
                </a:ext>
              </a:extLst>
            </p:cNvPr>
            <p:cNvSpPr txBox="1"/>
            <p:nvPr/>
          </p:nvSpPr>
          <p:spPr>
            <a:xfrm>
              <a:off x="5444898" y="2787427"/>
              <a:ext cx="1129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43%</a:t>
              </a:r>
              <a:endPara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62A5F912-A4CB-5798-9F87-0799536FB2EF}"/>
                </a:ext>
              </a:extLst>
            </p:cNvPr>
            <p:cNvSpPr/>
            <p:nvPr/>
          </p:nvSpPr>
          <p:spPr>
            <a:xfrm>
              <a:off x="6744307" y="2178477"/>
              <a:ext cx="1249018" cy="1107273"/>
            </a:xfrm>
            <a:prstGeom prst="roundRect">
              <a:avLst>
                <a:gd name="adj" fmla="val 6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A17A5329-2029-6279-9A4C-680E198384D9}"/>
                </a:ext>
              </a:extLst>
            </p:cNvPr>
            <p:cNvSpPr txBox="1"/>
            <p:nvPr/>
          </p:nvSpPr>
          <p:spPr>
            <a:xfrm>
              <a:off x="6816278" y="2242223"/>
              <a:ext cx="970260" cy="535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accent2">
                      <a:lumMod val="75000"/>
                    </a:schemeClr>
                  </a:solidFill>
                  <a:latin typeface="Bahnschrift SemiBold SemiConden" panose="020B0502040204020203" pitchFamily="34" charset="0"/>
                </a:rPr>
                <a:t>Resolution Rate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3ED32FA-9901-FC53-B22C-BC8F9D1205C5}"/>
                </a:ext>
              </a:extLst>
            </p:cNvPr>
            <p:cNvSpPr txBox="1"/>
            <p:nvPr/>
          </p:nvSpPr>
          <p:spPr>
            <a:xfrm>
              <a:off x="6825020" y="2787427"/>
              <a:ext cx="1129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26%</a:t>
              </a:r>
              <a:endPara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547E6775-DDC3-605C-7D46-62A0DA8C1274}"/>
                </a:ext>
              </a:extLst>
            </p:cNvPr>
            <p:cNvSpPr/>
            <p:nvPr/>
          </p:nvSpPr>
          <p:spPr>
            <a:xfrm>
              <a:off x="6051732" y="3428999"/>
              <a:ext cx="1983908" cy="1107273"/>
            </a:xfrm>
            <a:prstGeom prst="roundRect">
              <a:avLst>
                <a:gd name="adj" fmla="val 6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02DFA87-700A-7799-0685-C585688D2B95}"/>
                </a:ext>
              </a:extLst>
            </p:cNvPr>
            <p:cNvSpPr txBox="1"/>
            <p:nvPr/>
          </p:nvSpPr>
          <p:spPr>
            <a:xfrm>
              <a:off x="6121777" y="3497949"/>
              <a:ext cx="1767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accent2">
                      <a:lumMod val="75000"/>
                    </a:schemeClr>
                  </a:solidFill>
                  <a:latin typeface="Bahnschrift SemiBold SemiConden" panose="020B0502040204020203" pitchFamily="34" charset="0"/>
                </a:rPr>
                <a:t>Ignorance </a:t>
              </a:r>
            </a:p>
            <a:p>
              <a:r>
                <a:rPr lang="en-IN" sz="1400" dirty="0">
                  <a:solidFill>
                    <a:schemeClr val="accent2">
                      <a:lumMod val="75000"/>
                    </a:schemeClr>
                  </a:solidFill>
                  <a:latin typeface="Bahnschrift SemiBold SemiConden" panose="020B0502040204020203" pitchFamily="34" charset="0"/>
                </a:rPr>
                <a:t>Rate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934C6569-60BA-38CD-206B-5EFD412D79FC}"/>
                </a:ext>
              </a:extLst>
            </p:cNvPr>
            <p:cNvSpPr txBox="1"/>
            <p:nvPr/>
          </p:nvSpPr>
          <p:spPr>
            <a:xfrm>
              <a:off x="6135493" y="4025472"/>
              <a:ext cx="13869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" panose="020B0502040204020203" pitchFamily="34" charset="0"/>
                  <a:ea typeface="Malgun Gothic" panose="020B0503020000020004" pitchFamily="34" charset="-127"/>
                  <a:cs typeface="Leelawadee UI" panose="020B0502040204020203" pitchFamily="34" charset="-34"/>
                </a:rPr>
                <a:t>0%</a:t>
              </a:r>
              <a:endPara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9314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BC6D51-8DBD-F3EB-9FC2-85B3E0A933EB}"/>
              </a:ext>
            </a:extLst>
          </p:cNvPr>
          <p:cNvSpPr/>
          <p:nvPr/>
        </p:nvSpPr>
        <p:spPr>
          <a:xfrm>
            <a:off x="3852959" y="1261126"/>
            <a:ext cx="4271470" cy="3418395"/>
          </a:xfrm>
          <a:prstGeom prst="roundRect">
            <a:avLst>
              <a:gd name="adj" fmla="val 7072"/>
            </a:avLst>
          </a:prstGeom>
          <a:gradFill flip="none" rotWithShape="1">
            <a:gsLst>
              <a:gs pos="53000">
                <a:srgbClr val="FDF3ED"/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7C1EBE-7C12-EC0A-3B3C-C11630180E0F}"/>
              </a:ext>
            </a:extLst>
          </p:cNvPr>
          <p:cNvSpPr txBox="1"/>
          <p:nvPr/>
        </p:nvSpPr>
        <p:spPr>
          <a:xfrm>
            <a:off x="4085351" y="1440104"/>
            <a:ext cx="2242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Bellanduru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DEF5889-D657-12AD-A14C-44452AB98DCE}"/>
              </a:ext>
            </a:extLst>
          </p:cNvPr>
          <p:cNvCxnSpPr/>
          <p:nvPr/>
        </p:nvCxnSpPr>
        <p:spPr>
          <a:xfrm>
            <a:off x="4118962" y="1996621"/>
            <a:ext cx="3756991" cy="0"/>
          </a:xfrm>
          <a:prstGeom prst="line">
            <a:avLst/>
          </a:prstGeom>
          <a:ln w="3175">
            <a:gradFill flip="none" rotWithShape="1">
              <a:gsLst>
                <a:gs pos="68000">
                  <a:schemeClr val="tx1">
                    <a:lumMod val="65000"/>
                    <a:lumOff val="35000"/>
                    <a:alpha val="48000"/>
                  </a:schemeClr>
                </a:gs>
                <a:gs pos="100000">
                  <a:srgbClr val="FDF3ED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7C473CD-EB7F-4320-FF63-FCED5B453985}"/>
              </a:ext>
            </a:extLst>
          </p:cNvPr>
          <p:cNvSpPr/>
          <p:nvPr/>
        </p:nvSpPr>
        <p:spPr>
          <a:xfrm>
            <a:off x="3984063" y="2178479"/>
            <a:ext cx="1249018" cy="1107273"/>
          </a:xfrm>
          <a:prstGeom prst="roundRect">
            <a:avLst>
              <a:gd name="adj" fmla="val 692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78EBB7-6D47-3BCE-1A86-A4126FF5C6B5}"/>
              </a:ext>
            </a:extLst>
          </p:cNvPr>
          <p:cNvSpPr/>
          <p:nvPr/>
        </p:nvSpPr>
        <p:spPr>
          <a:xfrm>
            <a:off x="3984063" y="3428999"/>
            <a:ext cx="1983908" cy="1107273"/>
          </a:xfrm>
          <a:prstGeom prst="roundRect">
            <a:avLst>
              <a:gd name="adj" fmla="val 692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FEE5C4-B1E6-3D89-B6DB-AA0B79FB4428}"/>
              </a:ext>
            </a:extLst>
          </p:cNvPr>
          <p:cNvSpPr txBox="1"/>
          <p:nvPr/>
        </p:nvSpPr>
        <p:spPr>
          <a:xfrm>
            <a:off x="4101057" y="1738236"/>
            <a:ext cx="28668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rPr>
              <a:t>Best Overall Performance</a:t>
            </a:r>
            <a:endParaRPr lang="en-IN" sz="700" dirty="0">
              <a:solidFill>
                <a:schemeClr val="bg1">
                  <a:lumMod val="50000"/>
                </a:schemeClr>
              </a:solidFill>
              <a:latin typeface="Bahnschrift Light" panose="020B0502040204020203" pitchFamily="34" charset="0"/>
              <a:ea typeface="Malgun Gothic" panose="020B0503020000020004" pitchFamily="34" charset="-127"/>
              <a:cs typeface="Leelawadee UI" panose="020B05020402040202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860931-4F06-8042-8271-5629B9A0E0C3}"/>
              </a:ext>
            </a:extLst>
          </p:cNvPr>
          <p:cNvSpPr txBox="1"/>
          <p:nvPr/>
        </p:nvSpPr>
        <p:spPr>
          <a:xfrm>
            <a:off x="4056034" y="2242225"/>
            <a:ext cx="970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2">
                    <a:lumMod val="75000"/>
                  </a:schemeClr>
                </a:solidFill>
                <a:latin typeface="Bahnschrift SemiBold SemiConden" panose="020B0502040204020203" pitchFamily="34" charset="0"/>
              </a:rPr>
              <a:t>Acceptance Rate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4F477C-3099-C4AF-276F-1E6F8A197D35}"/>
              </a:ext>
            </a:extLst>
          </p:cNvPr>
          <p:cNvSpPr txBox="1"/>
          <p:nvPr/>
        </p:nvSpPr>
        <p:spPr>
          <a:xfrm>
            <a:off x="4064776" y="2787429"/>
            <a:ext cx="112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rPr>
              <a:t>57%</a:t>
            </a:r>
            <a:endParaRPr lang="en-IN" sz="2400" b="1" dirty="0">
              <a:solidFill>
                <a:schemeClr val="tx1">
                  <a:lumMod val="65000"/>
                  <a:lumOff val="35000"/>
                </a:schemeClr>
              </a:solidFill>
              <a:latin typeface="Bahnschrift" panose="020B0502040204020203" pitchFamily="34" charset="0"/>
              <a:ea typeface="Malgun Gothic" panose="020B0503020000020004" pitchFamily="34" charset="-127"/>
              <a:cs typeface="Leelawadee UI" panose="020B0502040204020203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B8BB5B-5BBB-B73A-25D9-1D3DD434A452}"/>
              </a:ext>
            </a:extLst>
          </p:cNvPr>
          <p:cNvSpPr txBox="1"/>
          <p:nvPr/>
        </p:nvSpPr>
        <p:spPr>
          <a:xfrm>
            <a:off x="4054108" y="3497949"/>
            <a:ext cx="1767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2">
                    <a:lumMod val="75000"/>
                  </a:schemeClr>
                </a:solidFill>
                <a:latin typeface="Bahnschrift SemiBold SemiConden" panose="020B0502040204020203" pitchFamily="34" charset="0"/>
              </a:rPr>
              <a:t>Effective Resolution Rate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D742D8-D228-993A-AB9A-04E074115124}"/>
              </a:ext>
            </a:extLst>
          </p:cNvPr>
          <p:cNvSpPr txBox="1"/>
          <p:nvPr/>
        </p:nvSpPr>
        <p:spPr>
          <a:xfrm>
            <a:off x="4067824" y="4025472"/>
            <a:ext cx="1424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rPr>
              <a:t>77%</a:t>
            </a:r>
            <a:endParaRPr lang="en-IN" sz="2400" b="1" dirty="0">
              <a:solidFill>
                <a:schemeClr val="tx1">
                  <a:lumMod val="65000"/>
                  <a:lumOff val="35000"/>
                </a:schemeClr>
              </a:solidFill>
              <a:latin typeface="Bahnschrift" panose="020B0502040204020203" pitchFamily="34" charset="0"/>
              <a:ea typeface="Malgun Gothic" panose="020B0503020000020004" pitchFamily="34" charset="-127"/>
              <a:cs typeface="Leelawadee UI" panose="020B0502040204020203" pitchFamily="34" charset="-34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35878B-F1EA-4CB6-5152-21F1947C22A4}"/>
              </a:ext>
            </a:extLst>
          </p:cNvPr>
          <p:cNvSpPr/>
          <p:nvPr/>
        </p:nvSpPr>
        <p:spPr>
          <a:xfrm>
            <a:off x="5364185" y="2178477"/>
            <a:ext cx="1249018" cy="1107273"/>
          </a:xfrm>
          <a:prstGeom prst="roundRect">
            <a:avLst>
              <a:gd name="adj" fmla="val 692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FC1F95-D34D-285D-5A2E-EF86FBBFD825}"/>
              </a:ext>
            </a:extLst>
          </p:cNvPr>
          <p:cNvSpPr txBox="1"/>
          <p:nvPr/>
        </p:nvSpPr>
        <p:spPr>
          <a:xfrm>
            <a:off x="5436156" y="2242223"/>
            <a:ext cx="970260" cy="535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2">
                    <a:lumMod val="75000"/>
                  </a:schemeClr>
                </a:solidFill>
                <a:latin typeface="Bahnschrift SemiBold SemiConden" panose="020B0502040204020203" pitchFamily="34" charset="0"/>
              </a:rPr>
              <a:t>Resolution 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927F7A-DAE6-9009-AF71-FB859D3C5C01}"/>
              </a:ext>
            </a:extLst>
          </p:cNvPr>
          <p:cNvSpPr txBox="1"/>
          <p:nvPr/>
        </p:nvSpPr>
        <p:spPr>
          <a:xfrm>
            <a:off x="5444898" y="2787427"/>
            <a:ext cx="112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rPr>
              <a:t>44%</a:t>
            </a:r>
            <a:endParaRPr lang="en-IN" sz="2400" b="1" dirty="0">
              <a:solidFill>
                <a:schemeClr val="tx1">
                  <a:lumMod val="65000"/>
                  <a:lumOff val="35000"/>
                </a:schemeClr>
              </a:solidFill>
              <a:latin typeface="Bahnschrift" panose="020B0502040204020203" pitchFamily="34" charset="0"/>
              <a:ea typeface="Malgun Gothic" panose="020B0503020000020004" pitchFamily="34" charset="-127"/>
              <a:cs typeface="Leelawadee UI" panose="020B0502040204020203" pitchFamily="34" charset="-34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D09CF24-6B7E-FDD2-F0D3-0A678D1F302E}"/>
              </a:ext>
            </a:extLst>
          </p:cNvPr>
          <p:cNvSpPr/>
          <p:nvPr/>
        </p:nvSpPr>
        <p:spPr>
          <a:xfrm>
            <a:off x="6744307" y="2178477"/>
            <a:ext cx="1249018" cy="1107273"/>
          </a:xfrm>
          <a:prstGeom prst="roundRect">
            <a:avLst>
              <a:gd name="adj" fmla="val 692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06DFBF-003F-3C89-0F27-25890DE6DCCD}"/>
              </a:ext>
            </a:extLst>
          </p:cNvPr>
          <p:cNvSpPr txBox="1"/>
          <p:nvPr/>
        </p:nvSpPr>
        <p:spPr>
          <a:xfrm>
            <a:off x="6816278" y="2242223"/>
            <a:ext cx="970260" cy="535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2">
                    <a:lumMod val="75000"/>
                  </a:schemeClr>
                </a:solidFill>
                <a:latin typeface="Bahnschrift SemiBold SemiConden" panose="020B0502040204020203" pitchFamily="34" charset="0"/>
              </a:rPr>
              <a:t>Resolution Rate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139AC2-258D-9C0D-92D0-AA89E251DC29}"/>
              </a:ext>
            </a:extLst>
          </p:cNvPr>
          <p:cNvSpPr txBox="1"/>
          <p:nvPr/>
        </p:nvSpPr>
        <p:spPr>
          <a:xfrm>
            <a:off x="6825020" y="2787427"/>
            <a:ext cx="112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rPr>
              <a:t>57%</a:t>
            </a:r>
            <a:endParaRPr lang="en-IN" sz="2400" b="1" dirty="0">
              <a:solidFill>
                <a:schemeClr val="tx1">
                  <a:lumMod val="65000"/>
                  <a:lumOff val="35000"/>
                </a:schemeClr>
              </a:solidFill>
              <a:latin typeface="Bahnschrift" panose="020B0502040204020203" pitchFamily="34" charset="0"/>
              <a:ea typeface="Malgun Gothic" panose="020B0503020000020004" pitchFamily="34" charset="-127"/>
              <a:cs typeface="Leelawadee UI" panose="020B0502040204020203" pitchFamily="34" charset="-34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E04B360-AD38-00FC-3FA1-6E3755BFA2DF}"/>
              </a:ext>
            </a:extLst>
          </p:cNvPr>
          <p:cNvSpPr/>
          <p:nvPr/>
        </p:nvSpPr>
        <p:spPr>
          <a:xfrm>
            <a:off x="6051732" y="3428999"/>
            <a:ext cx="1983908" cy="1107273"/>
          </a:xfrm>
          <a:prstGeom prst="roundRect">
            <a:avLst>
              <a:gd name="adj" fmla="val 692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2D9D39-657E-CA1C-4ECC-0C095B51EE18}"/>
              </a:ext>
            </a:extLst>
          </p:cNvPr>
          <p:cNvSpPr txBox="1"/>
          <p:nvPr/>
        </p:nvSpPr>
        <p:spPr>
          <a:xfrm>
            <a:off x="6121777" y="3497949"/>
            <a:ext cx="1767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2">
                    <a:lumMod val="75000"/>
                  </a:schemeClr>
                </a:solidFill>
                <a:latin typeface="Bahnschrift SemiBold SemiConden" panose="020B0502040204020203" pitchFamily="34" charset="0"/>
              </a:rPr>
              <a:t>Comments Per Complaint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9EAC44-50B2-19A7-BF2B-5C4D6AABB629}"/>
              </a:ext>
            </a:extLst>
          </p:cNvPr>
          <p:cNvSpPr txBox="1"/>
          <p:nvPr/>
        </p:nvSpPr>
        <p:spPr>
          <a:xfrm>
            <a:off x="6135493" y="4025472"/>
            <a:ext cx="1386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rPr>
              <a:t>1.72</a:t>
            </a:r>
            <a:endParaRPr lang="en-IN" sz="2400" b="1" dirty="0">
              <a:solidFill>
                <a:schemeClr val="tx1">
                  <a:lumMod val="65000"/>
                  <a:lumOff val="35000"/>
                </a:schemeClr>
              </a:solidFill>
              <a:latin typeface="Bahnschrift" panose="020B0502040204020203" pitchFamily="34" charset="0"/>
              <a:ea typeface="Malgun Gothic" panose="020B0503020000020004" pitchFamily="34" charset="-127"/>
              <a:cs typeface="Leelawadee UI" panose="020B0502040204020203" pitchFamily="34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F4DF4E-A94B-28C3-12A6-6EE758E775BA}"/>
              </a:ext>
            </a:extLst>
          </p:cNvPr>
          <p:cNvSpPr txBox="1"/>
          <p:nvPr/>
        </p:nvSpPr>
        <p:spPr>
          <a:xfrm>
            <a:off x="6945680" y="1441157"/>
            <a:ext cx="58724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IN" sz="2000" b="1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rPr>
              <a:t>727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71F4DB-F681-DAA1-7CC0-8C6DD5A4B16D}"/>
              </a:ext>
            </a:extLst>
          </p:cNvPr>
          <p:cNvSpPr txBox="1"/>
          <p:nvPr/>
        </p:nvSpPr>
        <p:spPr>
          <a:xfrm>
            <a:off x="6977022" y="1768164"/>
            <a:ext cx="98147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dirty="0">
                <a:solidFill>
                  <a:schemeClr val="bg1">
                    <a:lumMod val="65000"/>
                  </a:schemeClr>
                </a:solidFill>
                <a:latin typeface="Bahnschrift Condensed" panose="020B0502040204020203" pitchFamily="34" charset="0"/>
                <a:ea typeface="Malgun Gothic" panose="020B0503020000020004" pitchFamily="34" charset="-127"/>
                <a:cs typeface="Leelawadee UI" panose="020B0502040204020203" pitchFamily="34" charset="-34"/>
              </a:rPr>
              <a:t>Total complaints</a:t>
            </a:r>
            <a:endParaRPr lang="en-IN" sz="700" dirty="0">
              <a:solidFill>
                <a:schemeClr val="bg1">
                  <a:lumMod val="65000"/>
                </a:schemeClr>
              </a:solidFill>
              <a:latin typeface="Bahnschrift Condensed" panose="020B0502040204020203" pitchFamily="34" charset="0"/>
              <a:ea typeface="Malgun Gothic" panose="020B0503020000020004" pitchFamily="34" charset="-127"/>
              <a:cs typeface="Leelawadee UI" panose="020B0502040204020203" pitchFamily="34" charset="-34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0297995-4860-1F83-DD75-BBDF0336E3D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85" t="11275" r="56909" b="54895"/>
          <a:stretch>
            <a:fillRect/>
          </a:stretch>
        </p:blipFill>
        <p:spPr>
          <a:xfrm>
            <a:off x="7510673" y="1446657"/>
            <a:ext cx="365280" cy="35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66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336</Words>
  <Application>Microsoft Office PowerPoint</Application>
  <PresentationFormat>Widescreen</PresentationFormat>
  <Paragraphs>95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Aptos</vt:lpstr>
      <vt:lpstr>Aptos Display</vt:lpstr>
      <vt:lpstr>Arial</vt:lpstr>
      <vt:lpstr>Bahnschrift</vt:lpstr>
      <vt:lpstr>Bahnschrift Condensed</vt:lpstr>
      <vt:lpstr>Bahnschrift Light</vt:lpstr>
      <vt:lpstr>Bahnschrift SemiBold</vt:lpstr>
      <vt:lpstr>Bahnschrift SemiBold SemiConden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Ahsan</dc:creator>
  <cp:lastModifiedBy>Mohamed Ahsan</cp:lastModifiedBy>
  <cp:revision>11</cp:revision>
  <dcterms:created xsi:type="dcterms:W3CDTF">2026-06-25T06:33:58Z</dcterms:created>
  <dcterms:modified xsi:type="dcterms:W3CDTF">2026-06-28T10:16:13Z</dcterms:modified>
</cp:coreProperties>
</file>